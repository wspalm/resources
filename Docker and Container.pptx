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65" r:id="rId5"/>
    <p:sldId id="256" r:id="rId6"/>
    <p:sldId id="266" r:id="rId7"/>
    <p:sldId id="264" r:id="rId8"/>
    <p:sldId id="267" r:id="rId9"/>
    <p:sldId id="268" r:id="rId10"/>
    <p:sldId id="269" r:id="rId11"/>
    <p:sldId id="272" r:id="rId12"/>
    <p:sldId id="273" r:id="rId13"/>
    <p:sldId id="274" r:id="rId14"/>
    <p:sldId id="270" r:id="rId15"/>
    <p:sldId id="260" r:id="rId16"/>
    <p:sldId id="262" r:id="rId17"/>
    <p:sldId id="278" r:id="rId18"/>
    <p:sldId id="279" r:id="rId19"/>
    <p:sldId id="280" r:id="rId20"/>
    <p:sldId id="281" r:id="rId21"/>
    <p:sldId id="282" r:id="rId22"/>
    <p:sldId id="283" r:id="rId23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3FD7"/>
    <a:srgbClr val="1D1D1D"/>
    <a:srgbClr val="2A2A2A"/>
    <a:srgbClr val="242424"/>
    <a:srgbClr val="C583CC"/>
    <a:srgbClr val="ED9CF1"/>
    <a:srgbClr val="E654F1"/>
    <a:srgbClr val="8439C0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71"/>
    <p:restoredTop sz="91534"/>
  </p:normalViewPr>
  <p:slideViewPr>
    <p:cSldViewPr snapToGrid="0" snapToObjects="1">
      <p:cViewPr>
        <p:scale>
          <a:sx n="87" d="100"/>
          <a:sy n="87" d="100"/>
        </p:scale>
        <p:origin x="-278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C2D5-325B-8841-AE93-0AA63D3D2D6C}" type="datetimeFigureOut">
              <a:rPr lang="x-none" smtClean="0"/>
              <a:t>08/14/21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5ECDD-FAAE-1F4C-90AF-B545863DDD7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6249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286514-2603-8946-8448-A243A7C6F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18E8446-0EFA-3840-B781-AD36E8CA8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9C6F33B-898D-2A46-8277-B949F7471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01B9-8017-F74D-A055-5A34F13B7C32}" type="datetimeFigureOut">
              <a:rPr lang="x-none" smtClean="0"/>
              <a:t>08/14/21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46AB79D-ED3C-4A46-9D4B-3E54E876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994BD4-A7CC-B04C-87D2-6D217BE4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C4067-86E3-D740-A38D-FFE61F28D0E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0909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42CD81-1221-F741-BFF4-4C9A64E5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67D594-7E37-EC48-96F9-EB576FF8D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53F8A5-C4B5-6D4D-A0B1-2D08EEE1F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01B9-8017-F74D-A055-5A34F13B7C32}" type="datetimeFigureOut">
              <a:rPr lang="x-none" smtClean="0"/>
              <a:t>08/14/21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3C9296-76B9-3748-BFE9-9C6E4A4A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AB2EC5-CC77-6B4D-95FA-35BAC3FA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C4067-86E3-D740-A38D-FFE61F28D0E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7968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C69F3F-E8FA-644A-BB06-5F2EB5304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C4932F6-BE97-8A4D-9E10-D53261342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393EA85-27E1-D84D-98C1-AA90974C8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01B9-8017-F74D-A055-5A34F13B7C32}" type="datetimeFigureOut">
              <a:rPr lang="x-none" smtClean="0"/>
              <a:t>08/14/21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B0DC66-4505-4F4A-ADC0-85AB33A6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1359E1-9229-5D4D-95EC-1683F4C98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C4067-86E3-D740-A38D-FFE61F28D0E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2938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F31255-E325-C040-B742-1D0214B1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BA32CF-BB43-3C4D-B94C-10FF2AB48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15D4085-8138-C94F-B930-9B77218C1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7B94B1C-73CC-D647-BB40-4FE63F0A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01B9-8017-F74D-A055-5A34F13B7C32}" type="datetimeFigureOut">
              <a:rPr lang="x-none" smtClean="0"/>
              <a:t>08/14/21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B1168F8-3652-8C4A-922D-A195D2B7A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8BCB5E2-868C-464F-9A68-03CA289C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C4067-86E3-D740-A38D-FFE61F28D0E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5783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E29F02-3DA9-7444-908F-60375C6EF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CFF673A-6C45-F544-96B4-76A1F71EB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E2D55FB-5C7C-3A40-A799-4A8E40B7A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70577F3-1BFD-FC42-AC5A-97BF658EA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C69A753-FB1A-A047-9ECE-4BB6252A32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E7739A5-2366-A149-8DEC-CB8F35E7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01B9-8017-F74D-A055-5A34F13B7C32}" type="datetimeFigureOut">
              <a:rPr lang="x-none" smtClean="0"/>
              <a:t>08/14/21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B231C70-8CD6-2348-A440-8A41D2A6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E8D40C9-CA9E-DB4C-8393-5A8E2772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C4067-86E3-D740-A38D-FFE61F28D0E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89365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D9C5C0-92E1-A448-9948-AA38A1565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B9CBD59-AF5B-EA49-9F6D-6B92C4AA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01B9-8017-F74D-A055-5A34F13B7C32}" type="datetimeFigureOut">
              <a:rPr lang="x-none" smtClean="0"/>
              <a:t>08/14/21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6E6C4D1-25E3-1B47-845A-3B8146F0E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D77D210-EC8C-E945-8822-82F6751A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C4067-86E3-D740-A38D-FFE61F28D0E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3518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5B22E3A-9BF5-EC49-8550-2C10C89B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01B9-8017-F74D-A055-5A34F13B7C32}" type="datetimeFigureOut">
              <a:rPr lang="x-none" smtClean="0"/>
              <a:t>08/14/21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60BBD1E-5833-A347-894C-54415963D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AA84086-CF3A-A34D-B98C-6C2349C5A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C4067-86E3-D740-A38D-FFE61F28D0E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1741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0E304C-AF78-6A49-B390-0ACF6BCB2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FA0208-70D1-BF4D-8B5C-FD8F766D7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85E5149-AA13-2A43-AFA5-0846BCDA7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21BA80D-64B5-3645-B136-0BEEA2D5B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01B9-8017-F74D-A055-5A34F13B7C32}" type="datetimeFigureOut">
              <a:rPr lang="x-none" smtClean="0"/>
              <a:t>08/14/21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EA6FE35-4ACF-C94E-BB27-CC410DBE2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CFE7DF5-30E0-734D-8D88-9B58A7F64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C4067-86E3-D740-A38D-FFE61F28D0E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4624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C90454-6C08-9D4D-8CA3-A6AC9EB5A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5E79D54-309A-D549-A64D-6F0BEAF40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11FA7A4-B9CB-ED40-A013-B70B0A5DF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C74BF5E-1EF0-3F46-97BE-5CA13483B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01B9-8017-F74D-A055-5A34F13B7C32}" type="datetimeFigureOut">
              <a:rPr lang="x-none" smtClean="0"/>
              <a:t>08/14/21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754240F-5B28-9B42-86A4-6F04B53D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B11BD92-4E83-9A45-97CD-31A4921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C4067-86E3-D740-A38D-FFE61F28D0E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8358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406321-94AC-3E4C-BC86-54E7BF9E4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02719F8-8329-FB48-A572-76F6504B0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C219FB4-8FFD-204C-BBD4-55DA6A9A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01B9-8017-F74D-A055-5A34F13B7C32}" type="datetimeFigureOut">
              <a:rPr lang="x-none" smtClean="0"/>
              <a:t>08/14/21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876815-02CD-864F-ABD7-3810F304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ABBFDA4-7F7D-BF44-A1D5-580725C62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C4067-86E3-D740-A38D-FFE61F28D0E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6335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D83A95B-4087-0741-BD8C-4EDBC1C79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1540775-506D-C248-9FC6-554D3E482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7D0A4C5-FAE1-604F-8769-0F2C84D5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01B9-8017-F74D-A055-5A34F13B7C32}" type="datetimeFigureOut">
              <a:rPr lang="x-none" smtClean="0"/>
              <a:t>08/14/21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CA815A-4D9B-AF44-8A65-C38C4497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BE5370-0F13-3643-8BD0-BB025181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C4067-86E3-D740-A38D-FFE61F28D0E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92281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E0713FE-3904-3F46-B13A-4809CC311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C057DD3-ABA1-224F-AE26-E06567F1A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A3985C-88B9-DE48-8FCD-0B15AF2AA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A01B9-8017-F74D-A055-5A34F13B7C32}" type="datetimeFigureOut">
              <a:rPr lang="x-none" smtClean="0"/>
              <a:t>08/14/21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2CEF75-8B29-154E-B66B-5193A4A953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D0CE399-609A-8941-8E73-927C4B3FC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C4067-86E3-D740-A38D-FFE61F28D0E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8217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6B33A4-27C1-0042-A8F4-4AC626867EAF}"/>
              </a:ext>
            </a:extLst>
          </p:cNvPr>
          <p:cNvSpPr txBox="1"/>
          <p:nvPr/>
        </p:nvSpPr>
        <p:spPr>
          <a:xfrm>
            <a:off x="154167" y="66156"/>
            <a:ext cx="2635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 &gt; Building block</a:t>
            </a:r>
          </a:p>
        </p:txBody>
      </p:sp>
      <p:pic>
        <p:nvPicPr>
          <p:cNvPr id="2050" name="Picture 2" descr="The difference in structure between containers and virtual machines">
            <a:extLst>
              <a:ext uri="{FF2B5EF4-FFF2-40B4-BE49-F238E27FC236}">
                <a16:creationId xmlns:a16="http://schemas.microsoft.com/office/drawing/2014/main" xmlns="" id="{8A8CBC48-46E7-7144-94FA-6D3A56B53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300" y="1168400"/>
            <a:ext cx="7137400" cy="497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Docker Container Icon #346704 - Free Icons Library">
            <a:extLst>
              <a:ext uri="{FF2B5EF4-FFF2-40B4-BE49-F238E27FC236}">
                <a16:creationId xmlns:a16="http://schemas.microsoft.com/office/drawing/2014/main" xmlns="" id="{54BD4C78-4D29-D144-8390-F09BB5CFA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2205353"/>
            <a:ext cx="719030" cy="559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Docker Container Icon #346704 - Free Icons Library">
            <a:extLst>
              <a:ext uri="{FF2B5EF4-FFF2-40B4-BE49-F238E27FC236}">
                <a16:creationId xmlns:a16="http://schemas.microsoft.com/office/drawing/2014/main" xmlns="" id="{C67644D8-DBD2-0247-A838-0934881DB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330" y="2205353"/>
            <a:ext cx="719030" cy="559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Docker Container Icon #346704 - Free Icons Library">
            <a:extLst>
              <a:ext uri="{FF2B5EF4-FFF2-40B4-BE49-F238E27FC236}">
                <a16:creationId xmlns:a16="http://schemas.microsoft.com/office/drawing/2014/main" xmlns="" id="{6BEAA1B8-850D-3541-85F8-D068B513B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201" y="2205352"/>
            <a:ext cx="719030" cy="559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2D8C2445-ED75-A349-B575-CC86BE68D74E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052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6B33A4-27C1-0042-A8F4-4AC626867EAF}"/>
              </a:ext>
            </a:extLst>
          </p:cNvPr>
          <p:cNvSpPr txBox="1"/>
          <p:nvPr/>
        </p:nvSpPr>
        <p:spPr>
          <a:xfrm>
            <a:off x="370067" y="28056"/>
            <a:ext cx="3210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 &gt; modular application</a:t>
            </a:r>
          </a:p>
        </p:txBody>
      </p:sp>
      <p:pic>
        <p:nvPicPr>
          <p:cNvPr id="1026" name="Picture 2" descr="Docker Container Icon #346704 - Free Icons Library">
            <a:extLst>
              <a:ext uri="{FF2B5EF4-FFF2-40B4-BE49-F238E27FC236}">
                <a16:creationId xmlns:a16="http://schemas.microsoft.com/office/drawing/2014/main" xmlns="" id="{0A7B95D7-3F40-BD45-97A6-09125F337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18" y="1024253"/>
            <a:ext cx="2781300" cy="2163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BEE5013-C722-A84A-B832-C616D982A866}"/>
              </a:ext>
            </a:extLst>
          </p:cNvPr>
          <p:cNvSpPr txBox="1"/>
          <p:nvPr/>
        </p:nvSpPr>
        <p:spPr>
          <a:xfrm>
            <a:off x="4089490" y="1491734"/>
            <a:ext cx="5269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- Stripped Down Linux OS version as image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1FA39EF-0ADD-D140-B01F-3BAE8A40688B}"/>
              </a:ext>
            </a:extLst>
          </p:cNvPr>
          <p:cNvSpPr txBox="1"/>
          <p:nvPr/>
        </p:nvSpPr>
        <p:spPr>
          <a:xfrm>
            <a:off x="4089490" y="2033906"/>
            <a:ext cx="5396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- Remote control the container with shell/commandline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027B479-8A74-FA4B-B752-3B1295ABD7CF}"/>
              </a:ext>
            </a:extLst>
          </p:cNvPr>
          <p:cNvSpPr txBox="1"/>
          <p:nvPr/>
        </p:nvSpPr>
        <p:spPr>
          <a:xfrm>
            <a:off x="4089490" y="2554606"/>
            <a:ext cx="5228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- Reconfigurable and Build from existing docker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2F67FD7-0668-464C-975F-B4CE6FB253F8}"/>
              </a:ext>
            </a:extLst>
          </p:cNvPr>
          <p:cNvSpPr txBox="1"/>
          <p:nvPr/>
        </p:nvSpPr>
        <p:spPr>
          <a:xfrm>
            <a:off x="4089490" y="822718"/>
            <a:ext cx="5966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containers are application packaging and delivery technology</a:t>
            </a:r>
            <a:endParaRPr lang="x-non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38E4248-1D57-724C-937B-873730746D29}"/>
              </a:ext>
            </a:extLst>
          </p:cNvPr>
          <p:cNvSpPr txBox="1"/>
          <p:nvPr/>
        </p:nvSpPr>
        <p:spPr>
          <a:xfrm>
            <a:off x="4073428" y="3059668"/>
            <a:ext cx="3644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- </a:t>
            </a:r>
            <a:r>
              <a:rPr lang="en-US" dirty="0"/>
              <a:t>M</a:t>
            </a:r>
            <a:r>
              <a:rPr lang="x-none" dirty="0"/>
              <a:t>ultiple containers communication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BDF6007-78ED-2040-8E33-368A3573C270}"/>
              </a:ext>
            </a:extLst>
          </p:cNvPr>
          <p:cNvSpPr txBox="1"/>
          <p:nvPr/>
        </p:nvSpPr>
        <p:spPr>
          <a:xfrm>
            <a:off x="1258586" y="4791556"/>
            <a:ext cx="54452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 to understand Linux file System</a:t>
            </a:r>
          </a:p>
          <a:p>
            <a:r>
              <a:rPr lang="en-US" dirty="0"/>
              <a:t>Where and how to put your application on a container ?</a:t>
            </a:r>
          </a:p>
          <a:p>
            <a:r>
              <a:rPr lang="en-US" dirty="0"/>
              <a:t>How to run your application in the container?</a:t>
            </a:r>
            <a:endParaRPr lang="x-non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F03738A-8DAC-6C43-A37E-F1FEEBBA9244}"/>
              </a:ext>
            </a:extLst>
          </p:cNvPr>
          <p:cNvSpPr txBox="1"/>
          <p:nvPr/>
        </p:nvSpPr>
        <p:spPr>
          <a:xfrm>
            <a:off x="8642788" y="4811840"/>
            <a:ext cx="1661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 Desktop</a:t>
            </a:r>
          </a:p>
          <a:p>
            <a:r>
              <a:rPr lang="en-US" dirty="0" err="1"/>
              <a:t>dockerfile</a:t>
            </a:r>
            <a:endParaRPr lang="x-none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6B141774-EAF1-F14F-94E9-0668B8357B93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105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6B33A4-27C1-0042-A8F4-4AC626867EAF}"/>
              </a:ext>
            </a:extLst>
          </p:cNvPr>
          <p:cNvSpPr txBox="1"/>
          <p:nvPr/>
        </p:nvSpPr>
        <p:spPr>
          <a:xfrm>
            <a:off x="370067" y="53456"/>
            <a:ext cx="3054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build docker image</a:t>
            </a:r>
          </a:p>
        </p:txBody>
      </p:sp>
      <p:pic>
        <p:nvPicPr>
          <p:cNvPr id="13" name="Picture 2" descr="Docker Container Icon #346704 - Free Icons Library">
            <a:extLst>
              <a:ext uri="{FF2B5EF4-FFF2-40B4-BE49-F238E27FC236}">
                <a16:creationId xmlns:a16="http://schemas.microsoft.com/office/drawing/2014/main" xmlns="" id="{7E8139B2-C828-7E4C-869D-082E069EE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7418" y="529155"/>
            <a:ext cx="2750482" cy="213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Office Computer Small Computer Cartoon Computer Cartoon Icon,  คอมพิวเตอร์สำนักงาน, คอมพิวเตอร์ขนาดเล็ก, คอมพิวเตอร์การ์ตูนภาพ PNG และ  เวกเตอร์ สำหรับการดาวน์โหล… | Computer icon, Web design logo, Free  illustrations">
            <a:extLst>
              <a:ext uri="{FF2B5EF4-FFF2-40B4-BE49-F238E27FC236}">
                <a16:creationId xmlns:a16="http://schemas.microsoft.com/office/drawing/2014/main" xmlns="" id="{D8B354ED-31C4-7F40-ADAE-25B62C80B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72" y="740581"/>
            <a:ext cx="2215863" cy="2215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ow to Manage Docker Hub Organizations and Teams">
            <a:extLst>
              <a:ext uri="{FF2B5EF4-FFF2-40B4-BE49-F238E27FC236}">
                <a16:creationId xmlns:a16="http://schemas.microsoft.com/office/drawing/2014/main" xmlns="" id="{C4805BCA-697B-1947-887E-C7E10761F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700" y="885787"/>
            <a:ext cx="2532122" cy="1400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8AF28A2-4658-964A-AAB7-7DC11B054C08}"/>
              </a:ext>
            </a:extLst>
          </p:cNvPr>
          <p:cNvSpPr txBox="1"/>
          <p:nvPr/>
        </p:nvSpPr>
        <p:spPr>
          <a:xfrm>
            <a:off x="491672" y="3429000"/>
            <a:ext cx="5640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docker script: c:\stack1\dockerfile</a:t>
            </a:r>
          </a:p>
          <a:p>
            <a:r>
              <a:rPr lang="x-none" dirty="0"/>
              <a:t>//1.Download  a </a:t>
            </a:r>
            <a:r>
              <a:rPr lang="x-none" b="1" dirty="0"/>
              <a:t>linux with python </a:t>
            </a:r>
            <a:r>
              <a:rPr lang="x-none" dirty="0"/>
              <a:t>image from docker hub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xmlns="" id="{1AA0B7C3-CC79-B840-B799-33B487935EE3}"/>
              </a:ext>
            </a:extLst>
          </p:cNvPr>
          <p:cNvCxnSpPr>
            <a:stCxn id="3" idx="3"/>
            <a:endCxn id="3078" idx="1"/>
          </p:cNvCxnSpPr>
          <p:nvPr/>
        </p:nvCxnSpPr>
        <p:spPr>
          <a:xfrm flipH="1" flipV="1">
            <a:off x="4203700" y="1585894"/>
            <a:ext cx="1928106" cy="2166272"/>
          </a:xfrm>
          <a:prstGeom prst="bentConnector5">
            <a:avLst>
              <a:gd name="adj1" fmla="val -11856"/>
              <a:gd name="adj2" fmla="val 41300"/>
              <a:gd name="adj3" fmla="val 1118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1CB84DA-D45C-3145-9DED-932C18AC8C6F}"/>
              </a:ext>
            </a:extLst>
          </p:cNvPr>
          <p:cNvSpPr txBox="1"/>
          <p:nvPr/>
        </p:nvSpPr>
        <p:spPr>
          <a:xfrm>
            <a:off x="491672" y="4210735"/>
            <a:ext cx="5216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//2. Tell which container target directory to work with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F357CA4-582E-D44F-B52B-73F23FBDA4DA}"/>
              </a:ext>
            </a:extLst>
          </p:cNvPr>
          <p:cNvSpPr txBox="1"/>
          <p:nvPr/>
        </p:nvSpPr>
        <p:spPr>
          <a:xfrm>
            <a:off x="491672" y="4799550"/>
            <a:ext cx="6301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//3. Copy your application file from a local directory to the docker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3BF864E3-5AA2-754F-9E69-4925C133697D}"/>
              </a:ext>
            </a:extLst>
          </p:cNvPr>
          <p:cNvGrpSpPr/>
          <p:nvPr/>
        </p:nvGrpSpPr>
        <p:grpSpPr>
          <a:xfrm>
            <a:off x="8944806" y="2711115"/>
            <a:ext cx="817853" cy="1435770"/>
            <a:chOff x="9013487" y="2669030"/>
            <a:chExt cx="817853" cy="143577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D1AD68A9-C393-D14C-8918-C44B231C7134}"/>
                </a:ext>
              </a:extLst>
            </p:cNvPr>
            <p:cNvSpPr txBox="1"/>
            <p:nvPr/>
          </p:nvSpPr>
          <p:spPr>
            <a:xfrm>
              <a:off x="9035118" y="2669030"/>
              <a:ext cx="5661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/>
                <a:t>/usr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0B0CFB26-DC8D-7D4F-A14C-79B7A9D6817D}"/>
                </a:ext>
              </a:extLst>
            </p:cNvPr>
            <p:cNvSpPr txBox="1"/>
            <p:nvPr/>
          </p:nvSpPr>
          <p:spPr>
            <a:xfrm>
              <a:off x="9035118" y="3214785"/>
              <a:ext cx="624530" cy="36933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/app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21728405-FD5D-FB4C-93FB-181172ABE121}"/>
                </a:ext>
              </a:extLst>
            </p:cNvPr>
            <p:cNvSpPr txBox="1"/>
            <p:nvPr/>
          </p:nvSpPr>
          <p:spPr>
            <a:xfrm>
              <a:off x="9013487" y="3735468"/>
              <a:ext cx="817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/>
                <a:t>/home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D17FB713-B9BA-F747-B5DE-F74388B88BE4}"/>
              </a:ext>
            </a:extLst>
          </p:cNvPr>
          <p:cNvSpPr txBox="1"/>
          <p:nvPr/>
        </p:nvSpPr>
        <p:spPr>
          <a:xfrm>
            <a:off x="1029062" y="1319786"/>
            <a:ext cx="1141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r>
              <a:rPr lang="x-none" dirty="0"/>
              <a:t>:\stack1\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9F3042BE-1362-0C47-9751-082BDED753F0}"/>
              </a:ext>
            </a:extLst>
          </p:cNvPr>
          <p:cNvSpPr txBox="1"/>
          <p:nvPr/>
        </p:nvSpPr>
        <p:spPr>
          <a:xfrm>
            <a:off x="900197" y="1319786"/>
            <a:ext cx="2071603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</a:t>
            </a:r>
            <a:r>
              <a:rPr lang="x-none" dirty="0">
                <a:solidFill>
                  <a:schemeClr val="bg1"/>
                </a:solidFill>
              </a:rPr>
              <a:t>:\stack1\script1.py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8277317A-5AF5-9E43-B8FA-74A79041A366}"/>
              </a:ext>
            </a:extLst>
          </p:cNvPr>
          <p:cNvSpPr txBox="1"/>
          <p:nvPr/>
        </p:nvSpPr>
        <p:spPr>
          <a:xfrm>
            <a:off x="9597558" y="3256870"/>
            <a:ext cx="1248241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x-none" dirty="0">
                <a:solidFill>
                  <a:schemeClr val="bg1"/>
                </a:solidFill>
              </a:rPr>
              <a:t>script1.py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E223F79-E808-2640-B594-2F93F17B6609}"/>
              </a:ext>
            </a:extLst>
          </p:cNvPr>
          <p:cNvSpPr txBox="1"/>
          <p:nvPr/>
        </p:nvSpPr>
        <p:spPr>
          <a:xfrm>
            <a:off x="491672" y="5331919"/>
            <a:ext cx="386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//4. Define how to run your application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39700928-8EB3-B045-8F49-D64603704F2A}"/>
              </a:ext>
            </a:extLst>
          </p:cNvPr>
          <p:cNvSpPr txBox="1"/>
          <p:nvPr/>
        </p:nvSpPr>
        <p:spPr>
          <a:xfrm>
            <a:off x="8850678" y="555915"/>
            <a:ext cx="1823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python script1.py</a:t>
            </a:r>
          </a:p>
        </p:txBody>
      </p:sp>
      <p:pic>
        <p:nvPicPr>
          <p:cNvPr id="3080" name="Picture 8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xmlns="" id="{02CBA00F-0E69-ED41-BEE0-646A213BF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700" y="1083602"/>
            <a:ext cx="1073439" cy="107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6E6BE82B-27AD-2047-ACBE-1BA1A00155FB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58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0" grpId="0"/>
      <p:bldP spid="21" grpId="0"/>
      <p:bldP spid="26" grpId="0"/>
      <p:bldP spid="27" grpId="0" animBg="1"/>
      <p:bldP spid="28" grpId="0" animBg="1"/>
      <p:bldP spid="2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6B33A4-27C1-0042-A8F4-4AC626867EAF}"/>
              </a:ext>
            </a:extLst>
          </p:cNvPr>
          <p:cNvSpPr txBox="1"/>
          <p:nvPr/>
        </p:nvSpPr>
        <p:spPr>
          <a:xfrm>
            <a:off x="306567" y="0"/>
            <a:ext cx="4474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Docker Image building Commands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xmlns="" id="{973849C3-D665-704E-AB31-AF763847E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932594"/>
              </p:ext>
            </p:extLst>
          </p:nvPr>
        </p:nvGraphicFramePr>
        <p:xfrm>
          <a:off x="1007978" y="1373782"/>
          <a:ext cx="10176044" cy="4110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0497">
                  <a:extLst>
                    <a:ext uri="{9D8B030D-6E8A-4147-A177-3AD203B41FA5}">
                      <a16:colId xmlns:a16="http://schemas.microsoft.com/office/drawing/2014/main" xmlns="" val="3365619145"/>
                    </a:ext>
                  </a:extLst>
                </a:gridCol>
                <a:gridCol w="2376662">
                  <a:extLst>
                    <a:ext uri="{9D8B030D-6E8A-4147-A177-3AD203B41FA5}">
                      <a16:colId xmlns:a16="http://schemas.microsoft.com/office/drawing/2014/main" xmlns="" val="31696840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4073634612"/>
                    </a:ext>
                  </a:extLst>
                </a:gridCol>
                <a:gridCol w="1860885">
                  <a:extLst>
                    <a:ext uri="{9D8B030D-6E8A-4147-A177-3AD203B41FA5}">
                      <a16:colId xmlns:a16="http://schemas.microsoft.com/office/drawing/2014/main" xmlns="" val="2888827733"/>
                    </a:ext>
                  </a:extLst>
                </a:gridCol>
              </a:tblGrid>
              <a:tr h="438039">
                <a:tc>
                  <a:txBody>
                    <a:bodyPr/>
                    <a:lstStyle/>
                    <a:p>
                      <a:r>
                        <a:rPr lang="x-none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r>
                        <a:rPr lang="x-none" dirty="0"/>
                        <a:t>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  <a:r>
                        <a:rPr lang="x-none" dirty="0"/>
                        <a:t>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parameter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86071980"/>
                  </a:ext>
                </a:extLst>
              </a:tr>
              <a:tr h="438039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x-none" dirty="0"/>
                        <a:t>elect image from 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r>
                        <a:rPr lang="x-none" dirty="0"/>
                        <a:t>mage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1074375"/>
                  </a:ext>
                </a:extLst>
              </a:tr>
              <a:tr h="438039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x-none" dirty="0"/>
                        <a:t>et working directory</a:t>
                      </a:r>
                    </a:p>
                    <a:p>
                      <a:r>
                        <a:rPr lang="en-US" dirty="0"/>
                        <a:t>O</a:t>
                      </a:r>
                      <a:r>
                        <a:rPr lang="x-none" dirty="0"/>
                        <a:t>n the docker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WORKDIR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directory</a:t>
                      </a:r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28660369"/>
                  </a:ext>
                </a:extLst>
              </a:tr>
              <a:tr h="438039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r>
                        <a:rPr lang="x-none" dirty="0"/>
                        <a:t>opy file from src to 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directory</a:t>
                      </a:r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Destination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73728940"/>
                  </a:ext>
                </a:extLst>
              </a:tr>
              <a:tr h="438039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r>
                        <a:rPr lang="x-none" dirty="0"/>
                        <a:t>xecute command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31822343"/>
                  </a:ext>
                </a:extLst>
              </a:tr>
              <a:tr h="438039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r>
                        <a:rPr lang="x-none" dirty="0"/>
                        <a:t>ommandline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x-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8619335"/>
                  </a:ext>
                </a:extLst>
              </a:tr>
              <a:tr h="438039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r>
                        <a:rPr lang="x-none" dirty="0"/>
                        <a:t>xport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EXPOSE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x-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90599908"/>
                  </a:ext>
                </a:extLst>
              </a:tr>
              <a:tr h="438039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r>
                        <a:rPr lang="x-none" dirty="0"/>
                        <a:t>xeucte a single foreground 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ENTRYPOINT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x-none" dirty="0"/>
                        <a:t>["command","parameter"]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x-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1568578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169069AA-02EB-A04D-88B5-9F2769B5CB0C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807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xmlns="" id="{6B0912D1-7996-E247-952D-1290B06BD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4" y="4815053"/>
            <a:ext cx="6715404" cy="1806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6B33A4-27C1-0042-A8F4-4AC626867EAF}"/>
              </a:ext>
            </a:extLst>
          </p:cNvPr>
          <p:cNvSpPr txBox="1"/>
          <p:nvPr/>
        </p:nvSpPr>
        <p:spPr>
          <a:xfrm>
            <a:off x="0" y="49392"/>
            <a:ext cx="5271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Lab1.  A fast api python service application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3D90A03D-A4B7-404C-AE3F-E48DAEFD2EF2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F641938-30AE-E54A-88DF-A67B53377F1A}"/>
              </a:ext>
            </a:extLst>
          </p:cNvPr>
          <p:cNvSpPr txBox="1"/>
          <p:nvPr/>
        </p:nvSpPr>
        <p:spPr>
          <a:xfrm>
            <a:off x="161036" y="521208"/>
            <a:ext cx="2254913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x-none" dirty="0">
                <a:solidFill>
                  <a:schemeClr val="bg1"/>
                </a:solidFill>
              </a:rPr>
              <a:t>1. </a:t>
            </a:r>
            <a:r>
              <a:rPr lang="en-US" dirty="0">
                <a:solidFill>
                  <a:schemeClr val="bg1"/>
                </a:solidFill>
              </a:rPr>
              <a:t>C</a:t>
            </a:r>
            <a:r>
              <a:rPr lang="x-none" dirty="0">
                <a:solidFill>
                  <a:schemeClr val="bg1"/>
                </a:solidFill>
              </a:rPr>
              <a:t>reate a new folder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4BA1719-BC0B-7841-9FED-0E87CB30162C}"/>
              </a:ext>
            </a:extLst>
          </p:cNvPr>
          <p:cNvSpPr txBox="1"/>
          <p:nvPr/>
        </p:nvSpPr>
        <p:spPr>
          <a:xfrm>
            <a:off x="161036" y="4361679"/>
            <a:ext cx="277447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3. Create a </a:t>
            </a:r>
            <a:r>
              <a:rPr lang="en-US" dirty="0" err="1">
                <a:solidFill>
                  <a:schemeClr val="bg1"/>
                </a:solidFill>
              </a:rPr>
              <a:t>Dockerfile</a:t>
            </a:r>
            <a:r>
              <a:rPr lang="en-US" dirty="0">
                <a:solidFill>
                  <a:schemeClr val="bg1"/>
                </a:solidFill>
              </a:rPr>
              <a:t> with: </a:t>
            </a:r>
            <a:endParaRPr lang="x-none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EC12B6D-138C-6B40-922E-CDB3922836FA}"/>
              </a:ext>
            </a:extLst>
          </p:cNvPr>
          <p:cNvSpPr txBox="1"/>
          <p:nvPr/>
        </p:nvSpPr>
        <p:spPr>
          <a:xfrm>
            <a:off x="5601512" y="828306"/>
            <a:ext cx="114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C:\stack1\</a:t>
            </a:r>
            <a:endParaRPr lang="x-non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0AE0CE2B-E341-3848-88FB-0AF5A5ABF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77" y="1254187"/>
            <a:ext cx="4680123" cy="30772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CC156EC-531C-9645-B43D-20A35578D176}"/>
              </a:ext>
            </a:extLst>
          </p:cNvPr>
          <p:cNvSpPr txBox="1"/>
          <p:nvPr/>
        </p:nvSpPr>
        <p:spPr>
          <a:xfrm>
            <a:off x="161036" y="938159"/>
            <a:ext cx="412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Create a python webservice script with:</a:t>
            </a:r>
            <a:endParaRPr lang="x-none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xmlns="" id="{2ED5379C-EB81-8A4E-92C2-E5719FFD079A}"/>
              </a:ext>
            </a:extLst>
          </p:cNvPr>
          <p:cNvGrpSpPr/>
          <p:nvPr/>
        </p:nvGrpSpPr>
        <p:grpSpPr>
          <a:xfrm>
            <a:off x="6172052" y="1117799"/>
            <a:ext cx="972940" cy="369332"/>
            <a:chOff x="6172056" y="858320"/>
            <a:chExt cx="972940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FB52F7C5-361B-E04E-A614-A42A1E152ADF}"/>
                </a:ext>
              </a:extLst>
            </p:cNvPr>
            <p:cNvSpPr txBox="1"/>
            <p:nvPr/>
          </p:nvSpPr>
          <p:spPr>
            <a:xfrm>
              <a:off x="6516298" y="858320"/>
              <a:ext cx="6286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app\</a:t>
              </a:r>
              <a:endParaRPr lang="x-none" dirty="0"/>
            </a:p>
          </p:txBody>
        </p:sp>
        <p:cxnSp>
          <p:nvCxnSpPr>
            <p:cNvPr id="17" name="Elbow Connector 16">
              <a:extLst>
                <a:ext uri="{FF2B5EF4-FFF2-40B4-BE49-F238E27FC236}">
                  <a16:creationId xmlns:a16="http://schemas.microsoft.com/office/drawing/2014/main" xmlns="" id="{A0919BFF-21F0-5A41-9EF7-DC51EE4E7A5D}"/>
                </a:ext>
              </a:extLst>
            </p:cNvPr>
            <p:cNvCxnSpPr>
              <a:stCxn id="9" idx="2"/>
              <a:endCxn id="10" idx="1"/>
            </p:cNvCxnSpPr>
            <p:nvPr/>
          </p:nvCxnSpPr>
          <p:spPr>
            <a:xfrm rot="16200000" flipH="1">
              <a:off x="6298295" y="824983"/>
              <a:ext cx="91764" cy="344241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xmlns="" id="{CCF96442-D6A7-8244-B70E-3D31106376FC}"/>
              </a:ext>
            </a:extLst>
          </p:cNvPr>
          <p:cNvGrpSpPr/>
          <p:nvPr/>
        </p:nvGrpSpPr>
        <p:grpSpPr>
          <a:xfrm>
            <a:off x="6742594" y="1382304"/>
            <a:ext cx="1413209" cy="369332"/>
            <a:chOff x="9213519" y="1122825"/>
            <a:chExt cx="1413209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C978A44D-D128-6346-B39C-F4E2687AE9BC}"/>
                </a:ext>
              </a:extLst>
            </p:cNvPr>
            <p:cNvSpPr txBox="1"/>
            <p:nvPr/>
          </p:nvSpPr>
          <p:spPr>
            <a:xfrm>
              <a:off x="9524118" y="1122825"/>
              <a:ext cx="1102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script1.py</a:t>
              </a:r>
              <a:endParaRPr lang="x-none" dirty="0"/>
            </a:p>
          </p:txBody>
        </p: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xmlns="" id="{645936D6-6B51-7246-9303-2467760A1E20}"/>
                </a:ext>
              </a:extLst>
            </p:cNvPr>
            <p:cNvCxnSpPr/>
            <p:nvPr/>
          </p:nvCxnSpPr>
          <p:spPr>
            <a:xfrm rot="16200000" flipH="1">
              <a:off x="9312256" y="1074673"/>
              <a:ext cx="156834" cy="354308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F094569C-CB80-0348-A632-08FFACF75D45}"/>
              </a:ext>
            </a:extLst>
          </p:cNvPr>
          <p:cNvGrpSpPr/>
          <p:nvPr/>
        </p:nvGrpSpPr>
        <p:grpSpPr>
          <a:xfrm>
            <a:off x="6739785" y="1578988"/>
            <a:ext cx="1444423" cy="486316"/>
            <a:chOff x="9210710" y="1319509"/>
            <a:chExt cx="1444423" cy="48631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816BA1C-3B1C-A440-8406-E29207EF91EB}"/>
                </a:ext>
              </a:extLst>
            </p:cNvPr>
            <p:cNvSpPr txBox="1"/>
            <p:nvPr/>
          </p:nvSpPr>
          <p:spPr>
            <a:xfrm>
              <a:off x="9524118" y="1436493"/>
              <a:ext cx="1131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Dockerfile</a:t>
              </a:r>
              <a:endParaRPr lang="x-none" dirty="0"/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xmlns="" id="{F45A40FB-E002-1344-B7B9-67671835FAD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210239" y="1319980"/>
              <a:ext cx="301650" cy="300707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09B4E068-7688-4E4B-817D-19AF73485D99}"/>
              </a:ext>
            </a:extLst>
          </p:cNvPr>
          <p:cNvSpPr txBox="1"/>
          <p:nvPr/>
        </p:nvSpPr>
        <p:spPr>
          <a:xfrm>
            <a:off x="2752638" y="1254187"/>
            <a:ext cx="1685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 use type and optional </a:t>
            </a:r>
            <a:endParaRPr lang="x-none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5734C53-C7BF-F641-A765-06BED4EC809F}"/>
              </a:ext>
            </a:extLst>
          </p:cNvPr>
          <p:cNvSpPr txBox="1"/>
          <p:nvPr/>
        </p:nvSpPr>
        <p:spPr>
          <a:xfrm>
            <a:off x="2752638" y="1643418"/>
            <a:ext cx="1357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 use </a:t>
            </a:r>
            <a:r>
              <a:rPr lang="en-US" sz="1200" dirty="0" err="1"/>
              <a:t>FastAPI</a:t>
            </a:r>
            <a:r>
              <a:rPr lang="en-US" sz="1200" dirty="0"/>
              <a:t> Class</a:t>
            </a:r>
            <a:endParaRPr lang="x-none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28A878F8-2891-B64D-B3B1-916CF79830F1}"/>
              </a:ext>
            </a:extLst>
          </p:cNvPr>
          <p:cNvSpPr txBox="1"/>
          <p:nvPr/>
        </p:nvSpPr>
        <p:spPr>
          <a:xfrm>
            <a:off x="1794505" y="2038712"/>
            <a:ext cx="2253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 create a new application object</a:t>
            </a:r>
            <a:endParaRPr lang="x-none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533A65A3-252F-B441-8D03-B11FEA077EB4}"/>
              </a:ext>
            </a:extLst>
          </p:cNvPr>
          <p:cNvSpPr txBox="1"/>
          <p:nvPr/>
        </p:nvSpPr>
        <p:spPr>
          <a:xfrm>
            <a:off x="1831937" y="2609240"/>
            <a:ext cx="2277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#annotate </a:t>
            </a:r>
            <a:r>
              <a:rPr lang="en-US" sz="1200" dirty="0" err="1"/>
              <a:t>httpGet</a:t>
            </a:r>
            <a:r>
              <a:rPr lang="en-US" sz="1200" dirty="0"/>
              <a:t> with root path</a:t>
            </a:r>
            <a:endParaRPr lang="x-none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53B1823F-F220-E949-9C52-2115F514BA37}"/>
              </a:ext>
            </a:extLst>
          </p:cNvPr>
          <p:cNvSpPr txBox="1"/>
          <p:nvPr/>
        </p:nvSpPr>
        <p:spPr>
          <a:xfrm>
            <a:off x="1823359" y="2804179"/>
            <a:ext cx="1662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#define a service action</a:t>
            </a:r>
            <a:endParaRPr lang="x-none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1DA29D8D-9211-8C42-927B-2D3D2FE61CC1}"/>
              </a:ext>
            </a:extLst>
          </p:cNvPr>
          <p:cNvSpPr txBox="1"/>
          <p:nvPr/>
        </p:nvSpPr>
        <p:spPr>
          <a:xfrm>
            <a:off x="2728111" y="3595766"/>
            <a:ext cx="2358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#annotate </a:t>
            </a:r>
            <a:r>
              <a:rPr lang="en-US" sz="1200" dirty="0" err="1"/>
              <a:t>httpGet</a:t>
            </a:r>
            <a:r>
              <a:rPr lang="en-US" sz="1200" dirty="0"/>
              <a:t> with items path</a:t>
            </a:r>
            <a:endParaRPr lang="x-none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71840B96-414D-5C4A-8ADB-85594DE5F6CC}"/>
              </a:ext>
            </a:extLst>
          </p:cNvPr>
          <p:cNvSpPr txBox="1"/>
          <p:nvPr/>
        </p:nvSpPr>
        <p:spPr>
          <a:xfrm>
            <a:off x="1901749" y="4840705"/>
            <a:ext cx="2843792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//download an image with python support</a:t>
            </a:r>
            <a:endParaRPr lang="x-none" sz="12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4A6E7D5C-C2F4-9A44-9974-EEB932E9CF82}"/>
              </a:ext>
            </a:extLst>
          </p:cNvPr>
          <p:cNvSpPr txBox="1"/>
          <p:nvPr/>
        </p:nvSpPr>
        <p:spPr>
          <a:xfrm>
            <a:off x="3668290" y="5134451"/>
            <a:ext cx="2136098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//install </a:t>
            </a:r>
            <a:r>
              <a:rPr lang="en-US" sz="1200" dirty="0" err="1">
                <a:solidFill>
                  <a:schemeClr val="bg1"/>
                </a:solidFill>
              </a:rPr>
              <a:t>fastapi</a:t>
            </a:r>
            <a:r>
              <a:rPr lang="en-US" sz="1200" dirty="0">
                <a:solidFill>
                  <a:schemeClr val="bg1"/>
                </a:solidFill>
              </a:rPr>
              <a:t> and </a:t>
            </a:r>
            <a:r>
              <a:rPr lang="en-US" sz="1200" dirty="0" err="1">
                <a:solidFill>
                  <a:schemeClr val="bg1"/>
                </a:solidFill>
              </a:rPr>
              <a:t>uvicorn</a:t>
            </a:r>
            <a:r>
              <a:rPr lang="en-US" sz="1200" dirty="0">
                <a:solidFill>
                  <a:schemeClr val="bg1"/>
                </a:solidFill>
              </a:rPr>
              <a:t> libs</a:t>
            </a:r>
            <a:endParaRPr lang="x-none" sz="12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7DE56380-A947-3C4F-ADB4-65F025EDA5AE}"/>
              </a:ext>
            </a:extLst>
          </p:cNvPr>
          <p:cNvSpPr txBox="1"/>
          <p:nvPr/>
        </p:nvSpPr>
        <p:spPr>
          <a:xfrm>
            <a:off x="1366858" y="5428197"/>
            <a:ext cx="4111190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//allow outside world to connect with the container on port 80</a:t>
            </a:r>
            <a:endParaRPr lang="x-none" sz="12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138B0440-1C6D-774B-B3B3-71CE564F00A4}"/>
              </a:ext>
            </a:extLst>
          </p:cNvPr>
          <p:cNvSpPr txBox="1"/>
          <p:nvPr/>
        </p:nvSpPr>
        <p:spPr>
          <a:xfrm>
            <a:off x="2039578" y="6012586"/>
            <a:ext cx="4424609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//copy all of the file from c:\stack1\*.*   to  container directory /app</a:t>
            </a:r>
            <a:endParaRPr lang="x-none" sz="12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DFA244D-8374-194E-863F-B5CFCFF26A6E}"/>
              </a:ext>
            </a:extLst>
          </p:cNvPr>
          <p:cNvSpPr txBox="1"/>
          <p:nvPr/>
        </p:nvSpPr>
        <p:spPr>
          <a:xfrm>
            <a:off x="4285755" y="6545109"/>
            <a:ext cx="2287101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//tell how to run your python app</a:t>
            </a:r>
            <a:endParaRPr lang="x-none" sz="12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A831CF9C-E35C-1F48-B990-114409103C0B}"/>
              </a:ext>
            </a:extLst>
          </p:cNvPr>
          <p:cNvSpPr txBox="1"/>
          <p:nvPr/>
        </p:nvSpPr>
        <p:spPr>
          <a:xfrm>
            <a:off x="5863905" y="2190284"/>
            <a:ext cx="6266759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4. On your terminal/command line, issue the following command</a:t>
            </a:r>
            <a:endParaRPr lang="x-none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F50E9535-18DB-C44D-8FA3-2994F6FF9D0C}"/>
              </a:ext>
            </a:extLst>
          </p:cNvPr>
          <p:cNvSpPr/>
          <p:nvPr/>
        </p:nvSpPr>
        <p:spPr>
          <a:xfrm>
            <a:off x="7099302" y="2743329"/>
            <a:ext cx="2582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Roboto Mono"/>
              </a:rPr>
              <a:t>docker build -t image1 .</a:t>
            </a:r>
            <a:endParaRPr lang="x-none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F2717406-A7AA-D44F-8971-0D41E2384F5C}"/>
              </a:ext>
            </a:extLst>
          </p:cNvPr>
          <p:cNvSpPr/>
          <p:nvPr/>
        </p:nvSpPr>
        <p:spPr>
          <a:xfrm>
            <a:off x="6604868" y="4247211"/>
            <a:ext cx="5211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Roboto Mono"/>
              </a:rPr>
              <a:t>docker run -d --name container1 -p 80:80 image1</a:t>
            </a:r>
            <a:endParaRPr lang="x-none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6533AEBB-47BB-B14D-A5B1-37CE7B0445DA}"/>
              </a:ext>
            </a:extLst>
          </p:cNvPr>
          <p:cNvSpPr txBox="1"/>
          <p:nvPr/>
        </p:nvSpPr>
        <p:spPr>
          <a:xfrm>
            <a:off x="5863906" y="3745340"/>
            <a:ext cx="6266759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5. On your terminal/command line, issue the following command</a:t>
            </a:r>
            <a:endParaRPr lang="x-none" dirty="0">
              <a:solidFill>
                <a:schemeClr val="bg1"/>
              </a:solidFill>
            </a:endParaRPr>
          </a:p>
        </p:txBody>
      </p:sp>
      <p:pic>
        <p:nvPicPr>
          <p:cNvPr id="37" name="Picture 2" descr="Docker Container Icon #346704 - Free Icons Library">
            <a:extLst>
              <a:ext uri="{FF2B5EF4-FFF2-40B4-BE49-F238E27FC236}">
                <a16:creationId xmlns:a16="http://schemas.microsoft.com/office/drawing/2014/main" xmlns="" id="{E0695B65-1EFF-C34A-9BCA-97C5A1BA3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104" y="4633688"/>
            <a:ext cx="2137690" cy="1663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Office Computer Small Computer Cartoon Computer Cartoon Icon,  คอมพิวเตอร์สำนักงาน, คอมพิวเตอร์ขนาดเล็ก, คอมพิวเตอร์การ์ตูนภาพ PNG และ  เวกเตอร์ สำหรับการดาวน์โหล… | Computer icon, Web design logo, Free  illustrations">
            <a:extLst>
              <a:ext uri="{FF2B5EF4-FFF2-40B4-BE49-F238E27FC236}">
                <a16:creationId xmlns:a16="http://schemas.microsoft.com/office/drawing/2014/main" xmlns="" id="{941114EE-F562-304F-8B3A-01E706A9D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127" y="4983453"/>
            <a:ext cx="1036851" cy="103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FCC8C9BB-3EC8-FD4B-92D0-CA29CD483741}"/>
              </a:ext>
            </a:extLst>
          </p:cNvPr>
          <p:cNvCxnSpPr>
            <a:cxnSpLocks/>
          </p:cNvCxnSpPr>
          <p:nvPr/>
        </p:nvCxnSpPr>
        <p:spPr>
          <a:xfrm>
            <a:off x="8898017" y="5370302"/>
            <a:ext cx="7944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2AE5C8C7-6D92-4649-92FC-C14ECD10613B}"/>
              </a:ext>
            </a:extLst>
          </p:cNvPr>
          <p:cNvSpPr/>
          <p:nvPr/>
        </p:nvSpPr>
        <p:spPr>
          <a:xfrm>
            <a:off x="6999464" y="6020304"/>
            <a:ext cx="1985324" cy="276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http://localhost:80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0981AA92-74CA-4040-8C19-355AB2F786BC}"/>
              </a:ext>
            </a:extLst>
          </p:cNvPr>
          <p:cNvSpPr/>
          <p:nvPr/>
        </p:nvSpPr>
        <p:spPr>
          <a:xfrm>
            <a:off x="9743104" y="5996545"/>
            <a:ext cx="1985324" cy="276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x-none" dirty="0"/>
              <a:t>cript1: 80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xmlns="" id="{7AF52F45-5236-8C45-AF05-13DF8D6D0D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418" y="3106082"/>
            <a:ext cx="5099050" cy="57785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37076820-8B54-0B4B-A136-A294AD0E8D9A}"/>
              </a:ext>
            </a:extLst>
          </p:cNvPr>
          <p:cNvSpPr txBox="1"/>
          <p:nvPr/>
        </p:nvSpPr>
        <p:spPr>
          <a:xfrm>
            <a:off x="1897371" y="5707434"/>
            <a:ext cx="3189463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//set working directory as /app on the container</a:t>
            </a:r>
            <a:endParaRPr lang="x-none" sz="1200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EFD1A0B8-503D-8245-BE81-E395667C100F}"/>
              </a:ext>
            </a:extLst>
          </p:cNvPr>
          <p:cNvSpPr txBox="1"/>
          <p:nvPr/>
        </p:nvSpPr>
        <p:spPr>
          <a:xfrm>
            <a:off x="9542459" y="798242"/>
            <a:ext cx="608003" cy="323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/usr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228338D6-3F51-2C40-AA0D-FDB14A64EBAC}"/>
              </a:ext>
            </a:extLst>
          </p:cNvPr>
          <p:cNvSpPr txBox="1"/>
          <p:nvPr/>
        </p:nvSpPr>
        <p:spPr>
          <a:xfrm>
            <a:off x="9542459" y="1276290"/>
            <a:ext cx="670662" cy="32351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x-none" dirty="0">
                <a:solidFill>
                  <a:schemeClr val="bg1"/>
                </a:solidFill>
              </a:rPr>
              <a:t>/app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5010A3C9-EFD6-AB4F-AE6F-282AA690F9D2}"/>
              </a:ext>
            </a:extLst>
          </p:cNvPr>
          <p:cNvSpPr txBox="1"/>
          <p:nvPr/>
        </p:nvSpPr>
        <p:spPr>
          <a:xfrm>
            <a:off x="9519230" y="1732376"/>
            <a:ext cx="878265" cy="323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/home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8D55F32C-442A-9B4B-805D-6FAC299BAEF9}"/>
              </a:ext>
            </a:extLst>
          </p:cNvPr>
          <p:cNvSpPr txBox="1"/>
          <p:nvPr/>
        </p:nvSpPr>
        <p:spPr>
          <a:xfrm>
            <a:off x="5523098" y="482878"/>
            <a:ext cx="1497782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local machine</a:t>
            </a:r>
            <a:endParaRPr lang="x-none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435EFFA1-811A-454A-A29B-A45909DA59B4}"/>
              </a:ext>
            </a:extLst>
          </p:cNvPr>
          <p:cNvSpPr txBox="1"/>
          <p:nvPr/>
        </p:nvSpPr>
        <p:spPr>
          <a:xfrm>
            <a:off x="9154172" y="509722"/>
            <a:ext cx="1566583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Image/remote</a:t>
            </a:r>
            <a:endParaRPr lang="x-none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8856D95E-F5CD-5C4C-BCD2-4F9F2893F859}"/>
              </a:ext>
            </a:extLst>
          </p:cNvPr>
          <p:cNvSpPr/>
          <p:nvPr/>
        </p:nvSpPr>
        <p:spPr>
          <a:xfrm>
            <a:off x="10172491" y="1251881"/>
            <a:ext cx="1187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/script1.py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6163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5" grpId="0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5" grpId="0"/>
      <p:bldP spid="36" grpId="0" animBg="1"/>
      <p:bldP spid="42" grpId="0" animBg="1"/>
      <p:bldP spid="43" grpId="0" animBg="1"/>
      <p:bldP spid="47" grpId="0" animBg="1"/>
      <p:bldP spid="47" grpId="1" animBg="1"/>
      <p:bldP spid="52" grpId="0" animBg="1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6B33A4-27C1-0042-A8F4-4AC626867EAF}"/>
              </a:ext>
            </a:extLst>
          </p:cNvPr>
          <p:cNvSpPr txBox="1"/>
          <p:nvPr/>
        </p:nvSpPr>
        <p:spPr>
          <a:xfrm>
            <a:off x="124417" y="66156"/>
            <a:ext cx="3705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Container remote control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16E31F33-2A99-7A4A-A20A-3B765E90D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362320"/>
            <a:ext cx="8559800" cy="59119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94B0BA06-57AD-4146-A5B9-3C0C4AB197F1}"/>
              </a:ext>
            </a:extLst>
          </p:cNvPr>
          <p:cNvGrpSpPr/>
          <p:nvPr/>
        </p:nvGrpSpPr>
        <p:grpSpPr>
          <a:xfrm>
            <a:off x="795528" y="2757947"/>
            <a:ext cx="8216900" cy="1796500"/>
            <a:chOff x="1143000" y="3233435"/>
            <a:chExt cx="8216900" cy="17965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xmlns="" id="{1D44DFEC-F4D6-EA49-8AC1-2F9208023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3000" y="3671035"/>
              <a:ext cx="8216900" cy="135890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xmlns="" id="{36D73D3C-DEA4-7847-8264-290E90FF0609}"/>
                </a:ext>
              </a:extLst>
            </p:cNvPr>
            <p:cNvCxnSpPr>
              <a:cxnSpLocks/>
            </p:cNvCxnSpPr>
            <p:nvPr/>
          </p:nvCxnSpPr>
          <p:spPr>
            <a:xfrm>
              <a:off x="8318500" y="3233435"/>
              <a:ext cx="0" cy="437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11764D7C-5636-2449-AAE2-D2B6A8EAF951}"/>
              </a:ext>
            </a:extLst>
          </p:cNvPr>
          <p:cNvGrpSpPr/>
          <p:nvPr/>
        </p:nvGrpSpPr>
        <p:grpSpPr>
          <a:xfrm>
            <a:off x="7805928" y="1871971"/>
            <a:ext cx="1104598" cy="643402"/>
            <a:chOff x="8153400" y="2347459"/>
            <a:chExt cx="1104598" cy="64340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794E55B9-A489-C248-B6FA-4FBF621A337F}"/>
                </a:ext>
              </a:extLst>
            </p:cNvPr>
            <p:cNvSpPr txBox="1"/>
            <p:nvPr/>
          </p:nvSpPr>
          <p:spPr>
            <a:xfrm>
              <a:off x="8153400" y="2347459"/>
              <a:ext cx="11045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/>
                <a:t>start/stop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xmlns="" id="{3C089707-DE63-BA48-95BB-580C50577B13}"/>
                </a:ext>
              </a:extLst>
            </p:cNvPr>
            <p:cNvCxnSpPr>
              <a:cxnSpLocks/>
            </p:cNvCxnSpPr>
            <p:nvPr/>
          </p:nvCxnSpPr>
          <p:spPr>
            <a:xfrm>
              <a:off x="8705699" y="2653944"/>
              <a:ext cx="0" cy="33691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D860F6E0-4234-2E49-B9C1-E29AF38A6262}"/>
              </a:ext>
            </a:extLst>
          </p:cNvPr>
          <p:cNvGrpSpPr/>
          <p:nvPr/>
        </p:nvGrpSpPr>
        <p:grpSpPr>
          <a:xfrm>
            <a:off x="6061796" y="1871971"/>
            <a:ext cx="1744132" cy="652166"/>
            <a:chOff x="6409268" y="2347459"/>
            <a:chExt cx="1744132" cy="65216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08944338-05A7-724D-95D5-665BAB91F877}"/>
                </a:ext>
              </a:extLst>
            </p:cNvPr>
            <p:cNvSpPr txBox="1"/>
            <p:nvPr/>
          </p:nvSpPr>
          <p:spPr>
            <a:xfrm>
              <a:off x="6409268" y="2347459"/>
              <a:ext cx="1744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</a:t>
              </a:r>
              <a:r>
                <a:rPr lang="x-none" dirty="0"/>
                <a:t>pen in browser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xmlns="" id="{C362D5CA-732D-7F47-B667-2B83EFBA3147}"/>
                </a:ext>
              </a:extLst>
            </p:cNvPr>
            <p:cNvCxnSpPr>
              <a:cxnSpLocks/>
            </p:cNvCxnSpPr>
            <p:nvPr/>
          </p:nvCxnSpPr>
          <p:spPr>
            <a:xfrm>
              <a:off x="7943699" y="2662708"/>
              <a:ext cx="0" cy="33691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B5EAD819-5A97-6F45-86AA-ABE16A1B3A76}"/>
              </a:ext>
            </a:extLst>
          </p:cNvPr>
          <p:cNvGrpSpPr/>
          <p:nvPr/>
        </p:nvGrpSpPr>
        <p:grpSpPr>
          <a:xfrm>
            <a:off x="9241029" y="2489457"/>
            <a:ext cx="1281715" cy="369332"/>
            <a:chOff x="9588501" y="2964945"/>
            <a:chExt cx="1281715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4B935D58-30E6-1B45-A7B5-F65616B94AE6}"/>
                </a:ext>
              </a:extLst>
            </p:cNvPr>
            <p:cNvSpPr txBox="1"/>
            <p:nvPr/>
          </p:nvSpPr>
          <p:spPr>
            <a:xfrm>
              <a:off x="9970483" y="2964945"/>
              <a:ext cx="8997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/>
                <a:t>remove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xmlns="" id="{C602908B-98DF-3E43-8953-A44FB4149C1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9588501" y="3149611"/>
              <a:ext cx="38198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2F657028-42D5-B44E-9320-CC958727D6E7}"/>
              </a:ext>
            </a:extLst>
          </p:cNvPr>
          <p:cNvGrpSpPr/>
          <p:nvPr/>
        </p:nvGrpSpPr>
        <p:grpSpPr>
          <a:xfrm>
            <a:off x="8745728" y="1871971"/>
            <a:ext cx="986822" cy="643402"/>
            <a:chOff x="9093200" y="2347459"/>
            <a:chExt cx="986822" cy="64340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9506D032-54C6-DC41-9D65-9D0734D844E2}"/>
                </a:ext>
              </a:extLst>
            </p:cNvPr>
            <p:cNvSpPr txBox="1"/>
            <p:nvPr/>
          </p:nvSpPr>
          <p:spPr>
            <a:xfrm>
              <a:off x="9295640" y="2347459"/>
              <a:ext cx="784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/>
                <a:t>reload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E9B84387-D050-5444-A29D-32F223878F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3200" y="2682620"/>
              <a:ext cx="470052" cy="30824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22F1B59-E361-5F4A-9D1D-721D131A57E7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674CB3EF-50F7-A94B-86BF-2A7CA4190B09}"/>
              </a:ext>
            </a:extLst>
          </p:cNvPr>
          <p:cNvSpPr/>
          <p:nvPr/>
        </p:nvSpPr>
        <p:spPr>
          <a:xfrm>
            <a:off x="603610" y="2178456"/>
            <a:ext cx="2279469" cy="900852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9413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6B33A4-27C1-0042-A8F4-4AC626867EAF}"/>
              </a:ext>
            </a:extLst>
          </p:cNvPr>
          <p:cNvSpPr txBox="1"/>
          <p:nvPr/>
        </p:nvSpPr>
        <p:spPr>
          <a:xfrm>
            <a:off x="0" y="74792"/>
            <a:ext cx="507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Lab2.  A node JS Web service application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3D90A03D-A4B7-404C-AE3F-E48DAEFD2EF2}"/>
              </a:ext>
            </a:extLst>
          </p:cNvPr>
          <p:cNvCxnSpPr/>
          <p:nvPr/>
        </p:nvCxnSpPr>
        <p:spPr>
          <a:xfrm>
            <a:off x="0" y="4989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F641938-30AE-E54A-88DF-A67B53377F1A}"/>
              </a:ext>
            </a:extLst>
          </p:cNvPr>
          <p:cNvSpPr txBox="1"/>
          <p:nvPr/>
        </p:nvSpPr>
        <p:spPr>
          <a:xfrm>
            <a:off x="161036" y="559308"/>
            <a:ext cx="2022413" cy="33855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x-none" sz="1600" dirty="0">
                <a:solidFill>
                  <a:schemeClr val="bg1"/>
                </a:solidFill>
              </a:rPr>
              <a:t>1. </a:t>
            </a:r>
            <a:r>
              <a:rPr lang="en-US" sz="1600" dirty="0">
                <a:solidFill>
                  <a:schemeClr val="bg1"/>
                </a:solidFill>
              </a:rPr>
              <a:t>C</a:t>
            </a:r>
            <a:r>
              <a:rPr lang="x-none" sz="1600" dirty="0">
                <a:solidFill>
                  <a:schemeClr val="bg1"/>
                </a:solidFill>
              </a:rPr>
              <a:t>reate a new folder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4BA1719-BC0B-7841-9FED-0E87CB30162C}"/>
              </a:ext>
            </a:extLst>
          </p:cNvPr>
          <p:cNvSpPr txBox="1"/>
          <p:nvPr/>
        </p:nvSpPr>
        <p:spPr>
          <a:xfrm>
            <a:off x="5660493" y="575331"/>
            <a:ext cx="2482796" cy="33855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3. Create a </a:t>
            </a:r>
            <a:r>
              <a:rPr lang="en-US" sz="1600" dirty="0" err="1">
                <a:solidFill>
                  <a:schemeClr val="bg1"/>
                </a:solidFill>
              </a:rPr>
              <a:t>Dockerfile</a:t>
            </a:r>
            <a:r>
              <a:rPr lang="en-US" sz="1600" dirty="0">
                <a:solidFill>
                  <a:schemeClr val="bg1"/>
                </a:solidFill>
              </a:rPr>
              <a:t> with: </a:t>
            </a:r>
            <a:endParaRPr lang="x-none" sz="16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EC12B6D-138C-6B40-922E-CDB3922836FA}"/>
              </a:ext>
            </a:extLst>
          </p:cNvPr>
          <p:cNvSpPr txBox="1"/>
          <p:nvPr/>
        </p:nvSpPr>
        <p:spPr>
          <a:xfrm>
            <a:off x="9573090" y="519441"/>
            <a:ext cx="114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C:\stack1\</a:t>
            </a:r>
            <a:endParaRPr lang="x-non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CC156EC-531C-9645-B43D-20A35578D176}"/>
              </a:ext>
            </a:extLst>
          </p:cNvPr>
          <p:cNvSpPr txBox="1"/>
          <p:nvPr/>
        </p:nvSpPr>
        <p:spPr>
          <a:xfrm>
            <a:off x="2279487" y="571478"/>
            <a:ext cx="3237233" cy="33855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2. Create a </a:t>
            </a:r>
            <a:r>
              <a:rPr lang="en-US" sz="1600" dirty="0" err="1">
                <a:solidFill>
                  <a:schemeClr val="bg1"/>
                </a:solidFill>
              </a:rPr>
              <a:t>nodeJs</a:t>
            </a:r>
            <a:r>
              <a:rPr lang="en-US" sz="1600" dirty="0">
                <a:solidFill>
                  <a:schemeClr val="bg1"/>
                </a:solidFill>
              </a:rPr>
              <a:t> web service script</a:t>
            </a:r>
            <a:endParaRPr lang="x-none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B52F7C5-361B-E04E-A614-A42A1E152ADF}"/>
              </a:ext>
            </a:extLst>
          </p:cNvPr>
          <p:cNvSpPr txBox="1"/>
          <p:nvPr/>
        </p:nvSpPr>
        <p:spPr>
          <a:xfrm>
            <a:off x="10143631" y="860941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app2\</a:t>
            </a:r>
            <a:endParaRPr lang="x-none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xmlns="" id="{CCF96442-D6A7-8244-B70E-3D31106376FC}"/>
              </a:ext>
            </a:extLst>
          </p:cNvPr>
          <p:cNvGrpSpPr/>
          <p:nvPr/>
        </p:nvGrpSpPr>
        <p:grpSpPr>
          <a:xfrm>
            <a:off x="10714172" y="1073439"/>
            <a:ext cx="1322414" cy="369332"/>
            <a:chOff x="9213519" y="1122825"/>
            <a:chExt cx="1322414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C978A44D-D128-6346-B39C-F4E2687AE9BC}"/>
                </a:ext>
              </a:extLst>
            </p:cNvPr>
            <p:cNvSpPr txBox="1"/>
            <p:nvPr/>
          </p:nvSpPr>
          <p:spPr>
            <a:xfrm>
              <a:off x="9524118" y="1122825"/>
              <a:ext cx="1011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Node1.js</a:t>
              </a:r>
              <a:endParaRPr lang="x-none" dirty="0"/>
            </a:p>
          </p:txBody>
        </p: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xmlns="" id="{645936D6-6B51-7246-9303-2467760A1E20}"/>
                </a:ext>
              </a:extLst>
            </p:cNvPr>
            <p:cNvCxnSpPr/>
            <p:nvPr/>
          </p:nvCxnSpPr>
          <p:spPr>
            <a:xfrm rot="16200000" flipH="1">
              <a:off x="9312256" y="1074673"/>
              <a:ext cx="156834" cy="354308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F094569C-CB80-0348-A632-08FFACF75D45}"/>
              </a:ext>
            </a:extLst>
          </p:cNvPr>
          <p:cNvGrpSpPr/>
          <p:nvPr/>
        </p:nvGrpSpPr>
        <p:grpSpPr>
          <a:xfrm>
            <a:off x="10724063" y="1270123"/>
            <a:ext cx="1423584" cy="486316"/>
            <a:chOff x="9210710" y="1319509"/>
            <a:chExt cx="1423584" cy="48631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816BA1C-3B1C-A440-8406-E29207EF91EB}"/>
                </a:ext>
              </a:extLst>
            </p:cNvPr>
            <p:cNvSpPr txBox="1"/>
            <p:nvPr/>
          </p:nvSpPr>
          <p:spPr>
            <a:xfrm>
              <a:off x="9524118" y="1436493"/>
              <a:ext cx="1110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dockerfile</a:t>
              </a:r>
              <a:endParaRPr lang="x-none" dirty="0"/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xmlns="" id="{F45A40FB-E002-1344-B7B9-67671835FAD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210239" y="1319980"/>
              <a:ext cx="301650" cy="300707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A831CF9C-E35C-1F48-B990-114409103C0B}"/>
              </a:ext>
            </a:extLst>
          </p:cNvPr>
          <p:cNvSpPr txBox="1"/>
          <p:nvPr/>
        </p:nvSpPr>
        <p:spPr>
          <a:xfrm>
            <a:off x="171896" y="4648664"/>
            <a:ext cx="5455169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4. On your terminal/command line, issue the following </a:t>
            </a:r>
            <a:r>
              <a:rPr lang="en-US" sz="1400" dirty="0">
                <a:solidFill>
                  <a:schemeClr val="bg1"/>
                </a:solidFill>
              </a:rPr>
              <a:t>command</a:t>
            </a:r>
            <a:endParaRPr lang="x-none" sz="1600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F50E9535-18DB-C44D-8FA3-2994F6FF9D0C}"/>
              </a:ext>
            </a:extLst>
          </p:cNvPr>
          <p:cNvSpPr/>
          <p:nvPr/>
        </p:nvSpPr>
        <p:spPr>
          <a:xfrm>
            <a:off x="233178" y="5129347"/>
            <a:ext cx="2582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Roboto Mono"/>
              </a:rPr>
              <a:t>docker build -t image2 .</a:t>
            </a:r>
            <a:endParaRPr lang="x-none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F2717406-A7AA-D44F-8971-0D41E2384F5C}"/>
              </a:ext>
            </a:extLst>
          </p:cNvPr>
          <p:cNvSpPr/>
          <p:nvPr/>
        </p:nvSpPr>
        <p:spPr>
          <a:xfrm>
            <a:off x="133003" y="6242646"/>
            <a:ext cx="6276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Roboto Mono"/>
              </a:rPr>
              <a:t>docker run -d  --rm --name container2 -p </a:t>
            </a: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  <a:latin typeface="Roboto Mono"/>
              </a:rPr>
              <a:t>3333</a:t>
            </a:r>
            <a:r>
              <a:rPr lang="en-US" dirty="0">
                <a:latin typeface="Roboto Mono"/>
              </a:rPr>
              <a:t>: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Roboto Mono"/>
              </a:rPr>
              <a:t>3000</a:t>
            </a:r>
            <a:r>
              <a:rPr lang="en-US" dirty="0">
                <a:latin typeface="Roboto Mono"/>
              </a:rPr>
              <a:t> image2</a:t>
            </a:r>
            <a:endParaRPr lang="x-none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6533AEBB-47BB-B14D-A5B1-37CE7B0445DA}"/>
              </a:ext>
            </a:extLst>
          </p:cNvPr>
          <p:cNvSpPr txBox="1"/>
          <p:nvPr/>
        </p:nvSpPr>
        <p:spPr>
          <a:xfrm>
            <a:off x="133003" y="5788598"/>
            <a:ext cx="5620098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5. On your terminal/command line, issue the following command</a:t>
            </a:r>
            <a:endParaRPr lang="x-none" sz="1600" dirty="0">
              <a:solidFill>
                <a:schemeClr val="bg1"/>
              </a:solidFill>
            </a:endParaRPr>
          </a:p>
        </p:txBody>
      </p:sp>
      <p:pic>
        <p:nvPicPr>
          <p:cNvPr id="37" name="Picture 2" descr="Docker Container Icon #346704 - Free Icons Library">
            <a:extLst>
              <a:ext uri="{FF2B5EF4-FFF2-40B4-BE49-F238E27FC236}">
                <a16:creationId xmlns:a16="http://schemas.microsoft.com/office/drawing/2014/main" xmlns="" id="{E0695B65-1EFF-C34A-9BCA-97C5A1BA3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767" y="4821851"/>
            <a:ext cx="2137690" cy="1554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Office Computer Small Computer Cartoon Computer Cartoon Icon,  คอมพิวเตอร์สำนักงาน, คอมพิวเตอร์ขนาดเล็ก, คอมพิวเตอร์การ์ตูนภาพ PNG และ  เวกเตอร์ สำหรับการดาวน์โหล… | Computer icon, Web design logo, Free  illustrations">
            <a:extLst>
              <a:ext uri="{FF2B5EF4-FFF2-40B4-BE49-F238E27FC236}">
                <a16:creationId xmlns:a16="http://schemas.microsoft.com/office/drawing/2014/main" xmlns="" id="{941114EE-F562-304F-8B3A-01E706A9D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790" y="5062648"/>
            <a:ext cx="1036851" cy="103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FCC8C9BB-3EC8-FD4B-92D0-CA29CD483741}"/>
              </a:ext>
            </a:extLst>
          </p:cNvPr>
          <p:cNvCxnSpPr>
            <a:cxnSpLocks/>
          </p:cNvCxnSpPr>
          <p:nvPr/>
        </p:nvCxnSpPr>
        <p:spPr>
          <a:xfrm>
            <a:off x="8778680" y="5449497"/>
            <a:ext cx="7944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2AE5C8C7-6D92-4649-92FC-C14ECD10613B}"/>
              </a:ext>
            </a:extLst>
          </p:cNvPr>
          <p:cNvSpPr/>
          <p:nvPr/>
        </p:nvSpPr>
        <p:spPr>
          <a:xfrm>
            <a:off x="6516726" y="6099500"/>
            <a:ext cx="2348725" cy="24079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http://localhost:</a:t>
            </a:r>
            <a:r>
              <a:rPr lang="x-none" dirty="0">
                <a:solidFill>
                  <a:srgbClr val="C00000"/>
                </a:solidFill>
                <a:highlight>
                  <a:srgbClr val="FFFF00"/>
                </a:highlight>
              </a:rPr>
              <a:t>3333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0981AA92-74CA-4040-8C19-355AB2F786BC}"/>
              </a:ext>
            </a:extLst>
          </p:cNvPr>
          <p:cNvSpPr/>
          <p:nvPr/>
        </p:nvSpPr>
        <p:spPr>
          <a:xfrm>
            <a:off x="9623767" y="6075740"/>
            <a:ext cx="1985324" cy="276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x-none" dirty="0"/>
              <a:t>cript1: </a:t>
            </a:r>
            <a:r>
              <a:rPr lang="x-none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</a:rPr>
              <a:t>3000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xmlns="" id="{16FCACD1-0AE2-2C4B-9BD6-B04872412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63" y="1064879"/>
            <a:ext cx="3737864" cy="335644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CAA8A74C-060F-0B4E-9C3C-FA0FA314E80E}"/>
              </a:ext>
            </a:extLst>
          </p:cNvPr>
          <p:cNvSpPr txBox="1"/>
          <p:nvPr/>
        </p:nvSpPr>
        <p:spPr>
          <a:xfrm>
            <a:off x="3125321" y="1069402"/>
            <a:ext cx="116865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//use express</a:t>
            </a:r>
            <a:endParaRPr lang="x-none" sz="1200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30375BC2-07B8-484C-BE1C-471413B11BB4}"/>
              </a:ext>
            </a:extLst>
          </p:cNvPr>
          <p:cNvSpPr txBox="1"/>
          <p:nvPr/>
        </p:nvSpPr>
        <p:spPr>
          <a:xfrm>
            <a:off x="2006961" y="1275662"/>
            <a:ext cx="1896866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//create web service object</a:t>
            </a:r>
            <a:endParaRPr lang="x-none" sz="1200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9254621A-01E1-A54B-A4E5-FECE27060A63}"/>
              </a:ext>
            </a:extLst>
          </p:cNvPr>
          <p:cNvSpPr txBox="1"/>
          <p:nvPr/>
        </p:nvSpPr>
        <p:spPr>
          <a:xfrm>
            <a:off x="2761214" y="1665129"/>
            <a:ext cx="1829668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//an action to service data</a:t>
            </a:r>
            <a:endParaRPr lang="x-none" sz="1200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BB5200CE-677F-7446-B78B-FD04CD03C2CE}"/>
              </a:ext>
            </a:extLst>
          </p:cNvPr>
          <p:cNvSpPr txBox="1"/>
          <p:nvPr/>
        </p:nvSpPr>
        <p:spPr>
          <a:xfrm>
            <a:off x="2074159" y="2709995"/>
            <a:ext cx="1448025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//return json of list1</a:t>
            </a:r>
            <a:endParaRPr lang="x-none" sz="1200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FEC35511-30DA-1241-98CF-0DDC8A796D29}"/>
              </a:ext>
            </a:extLst>
          </p:cNvPr>
          <p:cNvSpPr txBox="1"/>
          <p:nvPr/>
        </p:nvSpPr>
        <p:spPr>
          <a:xfrm>
            <a:off x="1248836" y="3106441"/>
            <a:ext cx="1650645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//start app service here</a:t>
            </a:r>
            <a:endParaRPr lang="x-none" sz="12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DA5E846-9CFB-EE48-BD93-7CC8B8DE2A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630" y="1058324"/>
            <a:ext cx="5319473" cy="275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5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5" grpId="0" animBg="1"/>
      <p:bldP spid="10" grpId="0"/>
      <p:bldP spid="32" grpId="0" animBg="1"/>
      <p:bldP spid="33" grpId="0"/>
      <p:bldP spid="35" grpId="0"/>
      <p:bldP spid="36" grpId="0" animBg="1"/>
      <p:bldP spid="42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6B33A4-27C1-0042-A8F4-4AC626867EAF}"/>
              </a:ext>
            </a:extLst>
          </p:cNvPr>
          <p:cNvSpPr txBox="1"/>
          <p:nvPr/>
        </p:nvSpPr>
        <p:spPr>
          <a:xfrm>
            <a:off x="124417" y="66156"/>
            <a:ext cx="2658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http certificate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22F1B59-E361-5F4A-9D1D-721D131A57E7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80EF10F2-4302-EF4C-B866-3DEFBFD02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01" y="585038"/>
            <a:ext cx="4559300" cy="8789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E40973A-4EF2-E543-ACB2-71611D22FAE3}"/>
              </a:ext>
            </a:extLst>
          </p:cNvPr>
          <p:cNvSpPr/>
          <p:nvPr/>
        </p:nvSpPr>
        <p:spPr>
          <a:xfrm>
            <a:off x="331101" y="1613488"/>
            <a:ext cx="878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dotnet dev-certs https -ep </a:t>
            </a:r>
            <a:r>
              <a:rPr lang="en-US" dirty="0">
                <a:solidFill>
                  <a:srgbClr val="008000"/>
                </a:solidFill>
              </a:rPr>
              <a:t>${</a:t>
            </a:r>
            <a:r>
              <a:rPr lang="en-US" dirty="0">
                <a:solidFill>
                  <a:srgbClr val="007FAA"/>
                </a:solidFill>
              </a:rPr>
              <a:t>HOME</a:t>
            </a:r>
            <a:r>
              <a:rPr lang="en-US" dirty="0">
                <a:solidFill>
                  <a:srgbClr val="008000"/>
                </a:solidFill>
              </a:rPr>
              <a:t>}</a:t>
            </a:r>
            <a:r>
              <a:rPr lang="en-US" dirty="0"/>
              <a:t>/.</a:t>
            </a:r>
            <a:r>
              <a:rPr lang="en-US" dirty="0" err="1"/>
              <a:t>aspnet</a:t>
            </a:r>
            <a:r>
              <a:rPr lang="en-US" dirty="0"/>
              <a:t>/https/</a:t>
            </a:r>
            <a:r>
              <a:rPr lang="en-US" b="1" dirty="0"/>
              <a:t>core5-website</a:t>
            </a:r>
            <a:r>
              <a:rPr lang="en-US" dirty="0"/>
              <a:t>.pfx -p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</a:rPr>
              <a:t>12345678</a:t>
            </a:r>
            <a:endParaRPr lang="x-none" dirty="0">
              <a:solidFill>
                <a:schemeClr val="accent4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7F37858-FAE1-5C4B-A7EF-6F7436201AAB}"/>
              </a:ext>
            </a:extLst>
          </p:cNvPr>
          <p:cNvSpPr/>
          <p:nvPr/>
        </p:nvSpPr>
        <p:spPr>
          <a:xfrm>
            <a:off x="331101" y="1982820"/>
            <a:ext cx="2907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dotnet dev-certs https --trust</a:t>
            </a:r>
            <a:endParaRPr lang="x-non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8F3136D-B845-F948-BF7B-374BC5EC246A}"/>
              </a:ext>
            </a:extLst>
          </p:cNvPr>
          <p:cNvSpPr/>
          <p:nvPr/>
        </p:nvSpPr>
        <p:spPr>
          <a:xfrm>
            <a:off x="331101" y="2352152"/>
            <a:ext cx="3939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dotnet dev-certs https --check --verbose</a:t>
            </a:r>
            <a:endParaRPr lang="x-non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F9AE04C-290F-6146-8BEA-0A3E47CCF90C}"/>
              </a:ext>
            </a:extLst>
          </p:cNvPr>
          <p:cNvSpPr/>
          <p:nvPr/>
        </p:nvSpPr>
        <p:spPr>
          <a:xfrm>
            <a:off x="331100" y="4321182"/>
            <a:ext cx="10413099" cy="369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x-none" dirty="0"/>
              <a:t>https://docs.microsoft.com/en-us/aspnet/core/security/docker-compose-https?view=aspnetcore-5.0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4CB1850-6F09-834F-A0AD-694423A3D63E}"/>
              </a:ext>
            </a:extLst>
          </p:cNvPr>
          <p:cNvSpPr txBox="1"/>
          <p:nvPr/>
        </p:nvSpPr>
        <p:spPr>
          <a:xfrm>
            <a:off x="331100" y="3964550"/>
            <a:ext cx="552074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</a:t>
            </a:r>
            <a:r>
              <a:rPr lang="x-none" dirty="0">
                <a:solidFill>
                  <a:schemeClr val="bg1"/>
                </a:solidFill>
              </a:rPr>
              <a:t>ef:</a:t>
            </a:r>
          </a:p>
        </p:txBody>
      </p:sp>
    </p:spTree>
    <p:extLst>
      <p:ext uri="{BB962C8B-B14F-4D97-AF65-F5344CB8AC3E}">
        <p14:creationId xmlns:p14="http://schemas.microsoft.com/office/powerpoint/2010/main" val="364590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6B33A4-27C1-0042-A8F4-4AC626867EAF}"/>
              </a:ext>
            </a:extLst>
          </p:cNvPr>
          <p:cNvSpPr txBox="1"/>
          <p:nvPr/>
        </p:nvSpPr>
        <p:spPr>
          <a:xfrm>
            <a:off x="124417" y="66156"/>
            <a:ext cx="6074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Lab3&gt; Multiple container creations&gt; Test Controller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22F1B59-E361-5F4A-9D1D-721D131A57E7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709EFA1-21B7-3A4C-800C-78B88A078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804820"/>
            <a:ext cx="5854700" cy="570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8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6B33A4-27C1-0042-A8F4-4AC626867EAF}"/>
              </a:ext>
            </a:extLst>
          </p:cNvPr>
          <p:cNvSpPr txBox="1"/>
          <p:nvPr/>
        </p:nvSpPr>
        <p:spPr>
          <a:xfrm>
            <a:off x="124417" y="66156"/>
            <a:ext cx="5581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Lab3&gt; Multiple container creations&gt; dockerfile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22F1B59-E361-5F4A-9D1D-721D131A57E7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77117A32-6649-B04F-92B6-9BB56BF2B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200"/>
            <a:ext cx="9385300" cy="5689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40BB5CF-8F53-DE4D-BEFB-21275404B9EA}"/>
              </a:ext>
            </a:extLst>
          </p:cNvPr>
          <p:cNvSpPr/>
          <p:nvPr/>
        </p:nvSpPr>
        <p:spPr>
          <a:xfrm>
            <a:off x="538198" y="1133632"/>
            <a:ext cx="4315862" cy="290424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6FB168B-F1D1-CC4A-8BEF-B8B1F0E527AC}"/>
              </a:ext>
            </a:extLst>
          </p:cNvPr>
          <p:cNvSpPr/>
          <p:nvPr/>
        </p:nvSpPr>
        <p:spPr>
          <a:xfrm>
            <a:off x="5082660" y="1120569"/>
            <a:ext cx="805978" cy="290424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213442A-4CAB-5F4A-A5AD-29C872F39F06}"/>
              </a:ext>
            </a:extLst>
          </p:cNvPr>
          <p:cNvSpPr/>
          <p:nvPr/>
        </p:nvSpPr>
        <p:spPr>
          <a:xfrm>
            <a:off x="525135" y="1656146"/>
            <a:ext cx="1549149" cy="290424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2606154-12DE-2644-8531-6FD1A080D908}"/>
              </a:ext>
            </a:extLst>
          </p:cNvPr>
          <p:cNvSpPr/>
          <p:nvPr/>
        </p:nvSpPr>
        <p:spPr>
          <a:xfrm>
            <a:off x="681890" y="2204786"/>
            <a:ext cx="517184" cy="290424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241F576-ED47-9642-81D0-391834F4FC0D}"/>
              </a:ext>
            </a:extLst>
          </p:cNvPr>
          <p:cNvSpPr/>
          <p:nvPr/>
        </p:nvSpPr>
        <p:spPr>
          <a:xfrm>
            <a:off x="1204404" y="2204786"/>
            <a:ext cx="961319" cy="290424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3F83001-72F5-8B4B-9F37-663C17BFC5F2}"/>
              </a:ext>
            </a:extLst>
          </p:cNvPr>
          <p:cNvSpPr/>
          <p:nvPr/>
        </p:nvSpPr>
        <p:spPr>
          <a:xfrm>
            <a:off x="2215469" y="2204786"/>
            <a:ext cx="316015" cy="290424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3F5AC5A-A3C2-7745-BA21-CECCFC05A35C}"/>
              </a:ext>
            </a:extLst>
          </p:cNvPr>
          <p:cNvSpPr/>
          <p:nvPr/>
        </p:nvSpPr>
        <p:spPr>
          <a:xfrm>
            <a:off x="538198" y="2753426"/>
            <a:ext cx="517184" cy="290424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24801A5-0B8B-7C4F-A3E4-928FB141B071}"/>
              </a:ext>
            </a:extLst>
          </p:cNvPr>
          <p:cNvSpPr/>
          <p:nvPr/>
        </p:nvSpPr>
        <p:spPr>
          <a:xfrm>
            <a:off x="1041117" y="2768672"/>
            <a:ext cx="1751624" cy="249844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FB5FAB30-A535-5C42-8B2A-A1D78E7B731F}"/>
              </a:ext>
            </a:extLst>
          </p:cNvPr>
          <p:cNvSpPr/>
          <p:nvPr/>
        </p:nvSpPr>
        <p:spPr>
          <a:xfrm>
            <a:off x="681890" y="3306433"/>
            <a:ext cx="517184" cy="290424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16633327-AA04-C546-AC5B-D9B87006BF13}"/>
              </a:ext>
            </a:extLst>
          </p:cNvPr>
          <p:cNvSpPr/>
          <p:nvPr/>
        </p:nvSpPr>
        <p:spPr>
          <a:xfrm>
            <a:off x="1167879" y="3293369"/>
            <a:ext cx="383891" cy="303487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36B0977-96B1-5243-A375-E8A8971EB8E2}"/>
              </a:ext>
            </a:extLst>
          </p:cNvPr>
          <p:cNvSpPr/>
          <p:nvPr/>
        </p:nvSpPr>
        <p:spPr>
          <a:xfrm>
            <a:off x="1625080" y="3293370"/>
            <a:ext cx="383891" cy="303487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C82010F9-FE32-5740-A365-9F615486C91D}"/>
              </a:ext>
            </a:extLst>
          </p:cNvPr>
          <p:cNvSpPr/>
          <p:nvPr/>
        </p:nvSpPr>
        <p:spPr>
          <a:xfrm>
            <a:off x="601110" y="4098042"/>
            <a:ext cx="517184" cy="290424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B234DAD-570F-2D4A-8C5C-3B8FBA2F25C0}"/>
              </a:ext>
            </a:extLst>
          </p:cNvPr>
          <p:cNvSpPr/>
          <p:nvPr/>
        </p:nvSpPr>
        <p:spPr>
          <a:xfrm>
            <a:off x="1152154" y="4072708"/>
            <a:ext cx="3701906" cy="315758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CD036EEC-61BF-F94F-A056-D451A6CA034E}"/>
              </a:ext>
            </a:extLst>
          </p:cNvPr>
          <p:cNvSpPr/>
          <p:nvPr/>
        </p:nvSpPr>
        <p:spPr>
          <a:xfrm>
            <a:off x="681889" y="4937898"/>
            <a:ext cx="4538147" cy="315758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C8684E53-7890-5940-B435-00E454DFD34E}"/>
              </a:ext>
            </a:extLst>
          </p:cNvPr>
          <p:cNvSpPr/>
          <p:nvPr/>
        </p:nvSpPr>
        <p:spPr>
          <a:xfrm>
            <a:off x="5498936" y="4991542"/>
            <a:ext cx="938342" cy="290424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7989232D-595E-7243-9BBE-4F0AE6EA2A7F}"/>
              </a:ext>
            </a:extLst>
          </p:cNvPr>
          <p:cNvSpPr/>
          <p:nvPr/>
        </p:nvSpPr>
        <p:spPr>
          <a:xfrm>
            <a:off x="681888" y="5281732"/>
            <a:ext cx="1392395" cy="269347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F63864B2-E85B-3741-80E1-6A5AFA097EB1}"/>
              </a:ext>
            </a:extLst>
          </p:cNvPr>
          <p:cNvSpPr/>
          <p:nvPr/>
        </p:nvSpPr>
        <p:spPr>
          <a:xfrm>
            <a:off x="616576" y="5777754"/>
            <a:ext cx="517185" cy="269347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F58D7A9C-6FEC-BE4F-8B98-06CC58BB6DCE}"/>
              </a:ext>
            </a:extLst>
          </p:cNvPr>
          <p:cNvSpPr/>
          <p:nvPr/>
        </p:nvSpPr>
        <p:spPr>
          <a:xfrm>
            <a:off x="1244396" y="5785162"/>
            <a:ext cx="1392394" cy="244013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768EE5DB-9E29-0C41-8E76-F985F4485534}"/>
              </a:ext>
            </a:extLst>
          </p:cNvPr>
          <p:cNvSpPr/>
          <p:nvPr/>
        </p:nvSpPr>
        <p:spPr>
          <a:xfrm>
            <a:off x="2751046" y="5803088"/>
            <a:ext cx="929969" cy="244013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5AF9E027-E04C-1243-8D18-3AFD71C50641}"/>
              </a:ext>
            </a:extLst>
          </p:cNvPr>
          <p:cNvSpPr/>
          <p:nvPr/>
        </p:nvSpPr>
        <p:spPr>
          <a:xfrm>
            <a:off x="3762681" y="5790420"/>
            <a:ext cx="440849" cy="244013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47710F0B-6249-CC49-BF3D-616B44294CAF}"/>
              </a:ext>
            </a:extLst>
          </p:cNvPr>
          <p:cNvSpPr/>
          <p:nvPr/>
        </p:nvSpPr>
        <p:spPr>
          <a:xfrm>
            <a:off x="663627" y="6066243"/>
            <a:ext cx="1171001" cy="269347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780BC241-1EFA-F841-80B1-2AF855AFAD34}"/>
              </a:ext>
            </a:extLst>
          </p:cNvPr>
          <p:cNvSpPr/>
          <p:nvPr/>
        </p:nvSpPr>
        <p:spPr>
          <a:xfrm>
            <a:off x="1894966" y="6047101"/>
            <a:ext cx="2308564" cy="315758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AEE73E6-83F2-434E-9E55-F932D63F6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069" y="599690"/>
            <a:ext cx="1344477" cy="427674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9F87082D-E221-A74A-A297-971800963B9D}"/>
              </a:ext>
            </a:extLst>
          </p:cNvPr>
          <p:cNvSpPr txBox="1"/>
          <p:nvPr/>
        </p:nvSpPr>
        <p:spPr>
          <a:xfrm>
            <a:off x="9969790" y="5470267"/>
            <a:ext cx="608003" cy="323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/usr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832BACB9-187A-9845-AF07-BF48B5DC3537}"/>
              </a:ext>
            </a:extLst>
          </p:cNvPr>
          <p:cNvSpPr txBox="1"/>
          <p:nvPr/>
        </p:nvSpPr>
        <p:spPr>
          <a:xfrm>
            <a:off x="9969790" y="5948315"/>
            <a:ext cx="670662" cy="32351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x-none" dirty="0">
                <a:solidFill>
                  <a:schemeClr val="bg1"/>
                </a:solidFill>
              </a:rPr>
              <a:t>/app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383A9DB6-05CF-C247-A106-B7317073479E}"/>
              </a:ext>
            </a:extLst>
          </p:cNvPr>
          <p:cNvSpPr txBox="1"/>
          <p:nvPr/>
        </p:nvSpPr>
        <p:spPr>
          <a:xfrm>
            <a:off x="9946561" y="6404401"/>
            <a:ext cx="878265" cy="323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/home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53CD742-BC25-0449-8420-D2C663370DE1}"/>
              </a:ext>
            </a:extLst>
          </p:cNvPr>
          <p:cNvSpPr txBox="1"/>
          <p:nvPr/>
        </p:nvSpPr>
        <p:spPr>
          <a:xfrm>
            <a:off x="9581503" y="5181747"/>
            <a:ext cx="1566583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Image/remote</a:t>
            </a:r>
            <a:endParaRPr lang="x-none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33A3489F-D5F3-634C-9AB7-76BB9A273F0E}"/>
              </a:ext>
            </a:extLst>
          </p:cNvPr>
          <p:cNvSpPr/>
          <p:nvPr/>
        </p:nvSpPr>
        <p:spPr>
          <a:xfrm>
            <a:off x="9753428" y="3637341"/>
            <a:ext cx="1071397" cy="221427"/>
          </a:xfrm>
          <a:prstGeom prst="rect">
            <a:avLst/>
          </a:prstGeom>
          <a:solidFill>
            <a:schemeClr val="accent1">
              <a:alpha val="2158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5EFEDE9D-7CF9-0041-B751-3ED0D19EDC42}"/>
              </a:ext>
            </a:extLst>
          </p:cNvPr>
          <p:cNvSpPr txBox="1"/>
          <p:nvPr/>
        </p:nvSpPr>
        <p:spPr>
          <a:xfrm>
            <a:off x="10737039" y="5914424"/>
            <a:ext cx="141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/ a</a:t>
            </a:r>
            <a:r>
              <a:rPr lang="x-none" dirty="0"/>
              <a:t>pp3.csproj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3A5128B1-2F37-1341-BB39-5F7674DD6888}"/>
              </a:ext>
            </a:extLst>
          </p:cNvPr>
          <p:cNvSpPr/>
          <p:nvPr/>
        </p:nvSpPr>
        <p:spPr>
          <a:xfrm>
            <a:off x="9665642" y="1355687"/>
            <a:ext cx="1263904" cy="3462715"/>
          </a:xfrm>
          <a:prstGeom prst="rect">
            <a:avLst/>
          </a:prstGeom>
          <a:solidFill>
            <a:srgbClr val="FF0000">
              <a:alpha val="2158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414992D4-0465-9E4E-8CCD-A600BC044B99}"/>
              </a:ext>
            </a:extLst>
          </p:cNvPr>
          <p:cNvSpPr txBox="1"/>
          <p:nvPr/>
        </p:nvSpPr>
        <p:spPr>
          <a:xfrm>
            <a:off x="10824825" y="6238374"/>
            <a:ext cx="878265" cy="369332"/>
          </a:xfrm>
          <a:prstGeom prst="rect">
            <a:avLst/>
          </a:prstGeom>
          <a:solidFill>
            <a:srgbClr val="FF0000">
              <a:alpha val="70814"/>
            </a:srgbClr>
          </a:solidFill>
        </p:spPr>
        <p:txBody>
          <a:bodyPr wrap="square" rtlCol="0">
            <a:spAutoFit/>
          </a:bodyPr>
          <a:lstStyle/>
          <a:p>
            <a:r>
              <a:rPr lang="x-none" dirty="0"/>
              <a:t>…….</a:t>
            </a:r>
          </a:p>
        </p:txBody>
      </p:sp>
    </p:spTree>
    <p:extLst>
      <p:ext uri="{BB962C8B-B14F-4D97-AF65-F5344CB8AC3E}">
        <p14:creationId xmlns:p14="http://schemas.microsoft.com/office/powerpoint/2010/main" val="172371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4" grpId="0" animBg="1"/>
      <p:bldP spid="35" grpId="0"/>
      <p:bldP spid="36" grpId="0" animBg="1"/>
      <p:bldP spid="3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6B33A4-27C1-0042-A8F4-4AC626867EAF}"/>
              </a:ext>
            </a:extLst>
          </p:cNvPr>
          <p:cNvSpPr txBox="1"/>
          <p:nvPr/>
        </p:nvSpPr>
        <p:spPr>
          <a:xfrm>
            <a:off x="124417" y="66156"/>
            <a:ext cx="3782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lab3&gt; docker-compose.yml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22F1B59-E361-5F4A-9D1D-721D131A57E7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B0F89FB2-4E09-0347-B899-07E676EC5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39" y="673465"/>
            <a:ext cx="1625600" cy="203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148EFEB1-796B-9348-B197-D9F39D7D6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45" y="876666"/>
            <a:ext cx="1435100" cy="609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D42E7AC3-6595-1D43-ACB6-35206FFDA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89" y="1479734"/>
            <a:ext cx="1168400" cy="292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7F182CC-6AD1-8041-9B11-85A75BB4B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589" y="1771834"/>
            <a:ext cx="850900" cy="279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10CB1754-070E-184E-95B7-ABB2741335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995" y="2051234"/>
            <a:ext cx="1308100" cy="50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2F4E3656-BB8D-094E-B191-94491791F9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1995" y="2546534"/>
            <a:ext cx="1460500" cy="292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A4377CC6-AB64-FB43-834A-F270C64D07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1995" y="2828779"/>
            <a:ext cx="1879600" cy="838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FAC83CAF-BC00-7242-898D-32014E8A1E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1995" y="3666979"/>
            <a:ext cx="8547100" cy="1676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3B1F5374-14E1-E042-818D-D46B330092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5645" y="5320937"/>
            <a:ext cx="37719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5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1F9A0079-E12E-7B4E-A8FE-8268BDE84BCC}"/>
              </a:ext>
            </a:extLst>
          </p:cNvPr>
          <p:cNvSpPr/>
          <p:nvPr/>
        </p:nvSpPr>
        <p:spPr>
          <a:xfrm>
            <a:off x="803910" y="709681"/>
            <a:ext cx="52920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x-none" dirty="0"/>
              <a:t>wrk -t12 -c400 -d30s http://127.0.0.1:8080/index.html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2ECD3B45-591F-9C42-AFE0-F8C8C3ACFE33}"/>
              </a:ext>
            </a:extLst>
          </p:cNvPr>
          <p:cNvSpPr/>
          <p:nvPr/>
        </p:nvSpPr>
        <p:spPr>
          <a:xfrm>
            <a:off x="803910" y="1303239"/>
            <a:ext cx="1799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x-none" dirty="0"/>
              <a:t>-t12 //12 threads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962FA7BE-9B50-904A-B7F0-EE50201292FF}"/>
              </a:ext>
            </a:extLst>
          </p:cNvPr>
          <p:cNvSpPr/>
          <p:nvPr/>
        </p:nvSpPr>
        <p:spPr>
          <a:xfrm>
            <a:off x="803910" y="1736376"/>
            <a:ext cx="3551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x-none" dirty="0"/>
              <a:t>-c400 //open 400 HTTP connections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BBEB64DF-7F39-4C4D-8A95-5FB1A71177E8}"/>
              </a:ext>
            </a:extLst>
          </p:cNvPr>
          <p:cNvSpPr/>
          <p:nvPr/>
        </p:nvSpPr>
        <p:spPr>
          <a:xfrm>
            <a:off x="803910" y="2169513"/>
            <a:ext cx="2673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x-none" dirty="0"/>
              <a:t>-d30s //run for 30 seconds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AF68BC5-E7BF-B546-97E4-93AB9C548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931" y="3139393"/>
            <a:ext cx="6121826" cy="18336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EB563EFD-9CF7-F149-A406-A3DE0DAC6DED}"/>
              </a:ext>
            </a:extLst>
          </p:cNvPr>
          <p:cNvSpPr/>
          <p:nvPr/>
        </p:nvSpPr>
        <p:spPr>
          <a:xfrm>
            <a:off x="803910" y="5822072"/>
            <a:ext cx="2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x-none" dirty="0"/>
              <a:t>https://github.com/wg/wrk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62A1ECF-7305-3748-993D-D6473F1C549D}"/>
              </a:ext>
            </a:extLst>
          </p:cNvPr>
          <p:cNvSpPr txBox="1"/>
          <p:nvPr/>
        </p:nvSpPr>
        <p:spPr>
          <a:xfrm>
            <a:off x="124417" y="66156"/>
            <a:ext cx="3888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load test application service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11361A4-9D2C-BF42-ABEF-63FEACB06FD4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919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8E12697A-7AA9-B54F-A149-B12115F44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2667000"/>
            <a:ext cx="5283200" cy="1422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7DBB9E0-F684-394C-9398-8DAE2B24E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215900"/>
            <a:ext cx="5156200" cy="2019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2F57F24-0554-CD41-8B1C-0CDEF6EE5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4711700"/>
            <a:ext cx="6464300" cy="1930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B569059-D846-5E41-872E-C12283BCD933}"/>
              </a:ext>
            </a:extLst>
          </p:cNvPr>
          <p:cNvSpPr/>
          <p:nvPr/>
        </p:nvSpPr>
        <p:spPr>
          <a:xfrm>
            <a:off x="482600" y="3524250"/>
            <a:ext cx="2159000" cy="209550"/>
          </a:xfrm>
          <a:prstGeom prst="rect">
            <a:avLst/>
          </a:prstGeom>
          <a:solidFill>
            <a:schemeClr val="accent5">
              <a:lumMod val="7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98CDDC7-1065-A140-ADCB-8A0B735BE4BA}"/>
              </a:ext>
            </a:extLst>
          </p:cNvPr>
          <p:cNvSpPr/>
          <p:nvPr/>
        </p:nvSpPr>
        <p:spPr>
          <a:xfrm>
            <a:off x="393700" y="1498600"/>
            <a:ext cx="2159000" cy="209550"/>
          </a:xfrm>
          <a:prstGeom prst="rect">
            <a:avLst/>
          </a:prstGeom>
          <a:solidFill>
            <a:schemeClr val="accent5">
              <a:lumMod val="7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FF08EA2-50D8-494A-B242-7F5E25C69D75}"/>
              </a:ext>
            </a:extLst>
          </p:cNvPr>
          <p:cNvSpPr/>
          <p:nvPr/>
        </p:nvSpPr>
        <p:spPr>
          <a:xfrm>
            <a:off x="355600" y="5943600"/>
            <a:ext cx="2514600" cy="190500"/>
          </a:xfrm>
          <a:prstGeom prst="rect">
            <a:avLst/>
          </a:prstGeom>
          <a:solidFill>
            <a:schemeClr val="accent5">
              <a:lumMod val="7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CB0723C1-421A-CC40-9596-599279921B01}"/>
              </a:ext>
            </a:extLst>
          </p:cNvPr>
          <p:cNvSpPr/>
          <p:nvPr/>
        </p:nvSpPr>
        <p:spPr>
          <a:xfrm>
            <a:off x="1549400" y="3736975"/>
            <a:ext cx="889000" cy="209550"/>
          </a:xfrm>
          <a:prstGeom prst="rect">
            <a:avLst/>
          </a:prstGeom>
          <a:solidFill>
            <a:schemeClr val="accent6">
              <a:lumMod val="7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7F9F301-9F95-2E41-9B23-54A0A86723A4}"/>
              </a:ext>
            </a:extLst>
          </p:cNvPr>
          <p:cNvSpPr/>
          <p:nvPr/>
        </p:nvSpPr>
        <p:spPr>
          <a:xfrm>
            <a:off x="1752600" y="1828800"/>
            <a:ext cx="685800" cy="209550"/>
          </a:xfrm>
          <a:prstGeom prst="rect">
            <a:avLst/>
          </a:prstGeom>
          <a:solidFill>
            <a:schemeClr val="accent6">
              <a:lumMod val="7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01E6C94-859D-9743-8BE5-A9FE5B498C3A}"/>
              </a:ext>
            </a:extLst>
          </p:cNvPr>
          <p:cNvSpPr/>
          <p:nvPr/>
        </p:nvSpPr>
        <p:spPr>
          <a:xfrm>
            <a:off x="1625600" y="6308725"/>
            <a:ext cx="876300" cy="190500"/>
          </a:xfrm>
          <a:prstGeom prst="rect">
            <a:avLst/>
          </a:prstGeom>
          <a:solidFill>
            <a:schemeClr val="accent6">
              <a:lumMod val="7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1A58090-00D5-654D-9BE9-A1706EB68E36}"/>
              </a:ext>
            </a:extLst>
          </p:cNvPr>
          <p:cNvSpPr txBox="1"/>
          <p:nvPr/>
        </p:nvSpPr>
        <p:spPr>
          <a:xfrm>
            <a:off x="5903952" y="535578"/>
            <a:ext cx="181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FastApi container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FA08E69-F5CC-F448-A88D-FE2D3C4FED00}"/>
              </a:ext>
            </a:extLst>
          </p:cNvPr>
          <p:cNvSpPr txBox="1"/>
          <p:nvPr/>
        </p:nvSpPr>
        <p:spPr>
          <a:xfrm>
            <a:off x="5787629" y="3059668"/>
            <a:ext cx="2428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ASP .Net Core container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2CACA63-B2FA-4041-9691-70733B1DBDBF}"/>
              </a:ext>
            </a:extLst>
          </p:cNvPr>
          <p:cNvSpPr txBox="1"/>
          <p:nvPr/>
        </p:nvSpPr>
        <p:spPr>
          <a:xfrm>
            <a:off x="7342109" y="5307568"/>
            <a:ext cx="3235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ASP .Net Core on local computer</a:t>
            </a:r>
          </a:p>
        </p:txBody>
      </p:sp>
    </p:spTree>
    <p:extLst>
      <p:ext uri="{BB962C8B-B14F-4D97-AF65-F5344CB8AC3E}">
        <p14:creationId xmlns:p14="http://schemas.microsoft.com/office/powerpoint/2010/main" val="3869670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62A1ECF-7305-3748-993D-D6473F1C549D}"/>
              </a:ext>
            </a:extLst>
          </p:cNvPr>
          <p:cNvSpPr txBox="1"/>
          <p:nvPr/>
        </p:nvSpPr>
        <p:spPr>
          <a:xfrm>
            <a:off x="124417" y="66156"/>
            <a:ext cx="3888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load test application service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11361A4-9D2C-BF42-ABEF-63FEACB06FD4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C7FF99D-AF5F-5542-810C-1957E990C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4" y="576220"/>
            <a:ext cx="2705100" cy="2006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7EDBD2F6-0B1B-C247-91DE-BF36F2510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357" y="576220"/>
            <a:ext cx="7137400" cy="5359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88EF9514-CFA6-9146-A100-E2C3B3883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158" y="2393595"/>
            <a:ext cx="8471608" cy="41685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D3558457-AF1C-6640-A6C3-C1AA50E816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897" y="922380"/>
            <a:ext cx="28575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9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62A1ECF-7305-3748-993D-D6473F1C549D}"/>
              </a:ext>
            </a:extLst>
          </p:cNvPr>
          <p:cNvSpPr txBox="1"/>
          <p:nvPr/>
        </p:nvSpPr>
        <p:spPr>
          <a:xfrm>
            <a:off x="124417" y="66156"/>
            <a:ext cx="3888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load test application service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11361A4-9D2C-BF42-ABEF-63FEACB06FD4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818AA68-C5EC-744D-99DB-55F6A4404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17" y="584200"/>
            <a:ext cx="1990490" cy="50097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9DC8D47-13CB-8B4D-8918-19B400835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056" y="584199"/>
            <a:ext cx="9653361" cy="374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00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62A1ECF-7305-3748-993D-D6473F1C549D}"/>
              </a:ext>
            </a:extLst>
          </p:cNvPr>
          <p:cNvSpPr txBox="1"/>
          <p:nvPr/>
        </p:nvSpPr>
        <p:spPr>
          <a:xfrm>
            <a:off x="124417" y="66156"/>
            <a:ext cx="3888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load test application service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11361A4-9D2C-BF42-ABEF-63FEACB06FD4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83B0C5B-D4F7-444A-AAF1-B241E069E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153" y="956489"/>
            <a:ext cx="7939336" cy="52963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9BDE271-9F57-994A-821C-A53C7024A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11" y="782965"/>
            <a:ext cx="2120900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539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62A1ECF-7305-3748-993D-D6473F1C549D}"/>
              </a:ext>
            </a:extLst>
          </p:cNvPr>
          <p:cNvSpPr txBox="1"/>
          <p:nvPr/>
        </p:nvSpPr>
        <p:spPr>
          <a:xfrm>
            <a:off x="124417" y="66156"/>
            <a:ext cx="3888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load test application service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11361A4-9D2C-BF42-ABEF-63FEACB06FD4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264F692-4C00-A543-A7B6-AB38DED34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665" y="589667"/>
            <a:ext cx="8763000" cy="2438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C639484-AB3D-2C4F-B708-B71A760BA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551" y="1609975"/>
            <a:ext cx="7832073" cy="5116458"/>
          </a:xfrm>
          <a:prstGeom prst="rect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E130554-9660-F24A-9EEB-3D89283B6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56" y="589667"/>
            <a:ext cx="20955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7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6A43CBCB-0280-3B41-AF3C-71EDD715E5FE}"/>
              </a:ext>
            </a:extLst>
          </p:cNvPr>
          <p:cNvSpPr/>
          <p:nvPr/>
        </p:nvSpPr>
        <p:spPr>
          <a:xfrm>
            <a:off x="268940" y="4296163"/>
            <a:ext cx="11403106" cy="1981152"/>
          </a:xfrm>
          <a:prstGeom prst="rect">
            <a:avLst/>
          </a:prstGeom>
          <a:solidFill>
            <a:schemeClr val="tx1">
              <a:alpha val="0"/>
            </a:schemeClr>
          </a:solidFill>
          <a:ln w="254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62A1ECF-7305-3748-993D-D6473F1C549D}"/>
              </a:ext>
            </a:extLst>
          </p:cNvPr>
          <p:cNvSpPr txBox="1"/>
          <p:nvPr/>
        </p:nvSpPr>
        <p:spPr>
          <a:xfrm>
            <a:off x="124417" y="66156"/>
            <a:ext cx="2938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stack architecture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11361A4-9D2C-BF42-ABEF-63FEACB06FD4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58269BF-B733-C74F-941F-0FF38F8012E6}"/>
              </a:ext>
            </a:extLst>
          </p:cNvPr>
          <p:cNvSpPr/>
          <p:nvPr/>
        </p:nvSpPr>
        <p:spPr>
          <a:xfrm>
            <a:off x="268941" y="605118"/>
            <a:ext cx="11403106" cy="3469338"/>
          </a:xfrm>
          <a:prstGeom prst="rect">
            <a:avLst/>
          </a:prstGeom>
          <a:solidFill>
            <a:schemeClr val="tx1">
              <a:alpha val="0"/>
            </a:schemeClr>
          </a:solidFill>
          <a:ln w="254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B47A288-E56A-C242-BDD5-F93116F3C828}"/>
              </a:ext>
            </a:extLst>
          </p:cNvPr>
          <p:cNvSpPr/>
          <p:nvPr/>
        </p:nvSpPr>
        <p:spPr>
          <a:xfrm>
            <a:off x="772175" y="2518725"/>
            <a:ext cx="3240742" cy="53375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mysql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81719BF-81F4-FD4B-BFAD-EEC61BF7384F}"/>
              </a:ext>
            </a:extLst>
          </p:cNvPr>
          <p:cNvSpPr/>
          <p:nvPr/>
        </p:nvSpPr>
        <p:spPr>
          <a:xfrm>
            <a:off x="772175" y="3585720"/>
            <a:ext cx="1715531" cy="34029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7777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F72A786F-973A-2C44-873C-D9DDD056F0B2}"/>
              </a:ext>
            </a:extLst>
          </p:cNvPr>
          <p:cNvSpPr/>
          <p:nvPr/>
        </p:nvSpPr>
        <p:spPr>
          <a:xfrm>
            <a:off x="772175" y="3052482"/>
            <a:ext cx="3240742" cy="5337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mariadb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6EB480A-DF2C-5146-A468-055568BE99F8}"/>
              </a:ext>
            </a:extLst>
          </p:cNvPr>
          <p:cNvSpPr/>
          <p:nvPr/>
        </p:nvSpPr>
        <p:spPr>
          <a:xfrm>
            <a:off x="4322198" y="2464937"/>
            <a:ext cx="3240742" cy="53375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web1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C787FE6C-6ADB-734B-90E9-D8728273020F}"/>
              </a:ext>
            </a:extLst>
          </p:cNvPr>
          <p:cNvSpPr/>
          <p:nvPr/>
        </p:nvSpPr>
        <p:spPr>
          <a:xfrm>
            <a:off x="4322198" y="2998694"/>
            <a:ext cx="3240742" cy="5337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r>
              <a:rPr lang="x-none" dirty="0"/>
              <a:t>otnet core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B2E7C48B-4431-2744-8E1D-CCC5751E5CBC}"/>
              </a:ext>
            </a:extLst>
          </p:cNvPr>
          <p:cNvSpPr/>
          <p:nvPr/>
        </p:nvSpPr>
        <p:spPr>
          <a:xfrm>
            <a:off x="8006692" y="2455611"/>
            <a:ext cx="3240742" cy="53375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adminer1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62FB6153-4055-DE43-955F-14BBC603DCDB}"/>
              </a:ext>
            </a:extLst>
          </p:cNvPr>
          <p:cNvSpPr/>
          <p:nvPr/>
        </p:nvSpPr>
        <p:spPr>
          <a:xfrm>
            <a:off x="8006692" y="2989368"/>
            <a:ext cx="3240742" cy="5337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adminer</a:t>
            </a:r>
            <a:endParaRPr lang="x-none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5E7E39A4-3367-9943-97D6-ECCDE4CEBFC6}"/>
              </a:ext>
            </a:extLst>
          </p:cNvPr>
          <p:cNvSpPr/>
          <p:nvPr/>
        </p:nvSpPr>
        <p:spPr>
          <a:xfrm>
            <a:off x="772175" y="4296162"/>
            <a:ext cx="1715531" cy="34029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7777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14A58FF2-F103-BB43-9B7C-01B2A3023B65}"/>
              </a:ext>
            </a:extLst>
          </p:cNvPr>
          <p:cNvSpPr/>
          <p:nvPr/>
        </p:nvSpPr>
        <p:spPr>
          <a:xfrm>
            <a:off x="8006692" y="3541772"/>
            <a:ext cx="1715531" cy="34029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8080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49489FCD-139C-4547-9BFF-B11C896BC89F}"/>
              </a:ext>
            </a:extLst>
          </p:cNvPr>
          <p:cNvSpPr/>
          <p:nvPr/>
        </p:nvSpPr>
        <p:spPr>
          <a:xfrm>
            <a:off x="8006692" y="4297382"/>
            <a:ext cx="1715531" cy="34029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2001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44AC1C5C-2AEC-4549-8E0A-4FBC8AC0506A}"/>
              </a:ext>
            </a:extLst>
          </p:cNvPr>
          <p:cNvSpPr/>
          <p:nvPr/>
        </p:nvSpPr>
        <p:spPr>
          <a:xfrm>
            <a:off x="4322199" y="3541253"/>
            <a:ext cx="1392802" cy="34029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5000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12010C8A-BA63-7947-A9B5-DDA94144491F}"/>
              </a:ext>
            </a:extLst>
          </p:cNvPr>
          <p:cNvSpPr/>
          <p:nvPr/>
        </p:nvSpPr>
        <p:spPr>
          <a:xfrm>
            <a:off x="4338039" y="4278156"/>
            <a:ext cx="1392802" cy="34029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5000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C523438B-7623-4447-B26A-70C017146B5F}"/>
              </a:ext>
            </a:extLst>
          </p:cNvPr>
          <p:cNvSpPr/>
          <p:nvPr/>
        </p:nvSpPr>
        <p:spPr>
          <a:xfrm>
            <a:off x="6170138" y="3532451"/>
            <a:ext cx="1392802" cy="34029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5001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093140EA-CC8D-364C-B6F7-FB98589AA5E5}"/>
              </a:ext>
            </a:extLst>
          </p:cNvPr>
          <p:cNvSpPr/>
          <p:nvPr/>
        </p:nvSpPr>
        <p:spPr>
          <a:xfrm>
            <a:off x="6170138" y="4296162"/>
            <a:ext cx="1392802" cy="34029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5001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5A22AD5-E7B2-C54B-90C0-D72919995400}"/>
              </a:ext>
            </a:extLst>
          </p:cNvPr>
          <p:cNvSpPr txBox="1"/>
          <p:nvPr/>
        </p:nvSpPr>
        <p:spPr>
          <a:xfrm>
            <a:off x="10993999" y="689699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se2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1B1719A-A7C0-F74A-B552-336CA15D6C8F}"/>
              </a:ext>
            </a:extLst>
          </p:cNvPr>
          <p:cNvSpPr txBox="1"/>
          <p:nvPr/>
        </p:nvSpPr>
        <p:spPr>
          <a:xfrm>
            <a:off x="10039804" y="5798969"/>
            <a:ext cx="163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x-none" dirty="0"/>
              <a:t>ocal computer</a:t>
            </a:r>
          </a:p>
        </p:txBody>
      </p:sp>
    </p:spTree>
    <p:extLst>
      <p:ext uri="{BB962C8B-B14F-4D97-AF65-F5344CB8AC3E}">
        <p14:creationId xmlns:p14="http://schemas.microsoft.com/office/powerpoint/2010/main" val="644507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6A43CBCB-0280-3B41-AF3C-71EDD715E5FE}"/>
              </a:ext>
            </a:extLst>
          </p:cNvPr>
          <p:cNvSpPr/>
          <p:nvPr/>
        </p:nvSpPr>
        <p:spPr>
          <a:xfrm>
            <a:off x="268940" y="4810692"/>
            <a:ext cx="11403106" cy="1981152"/>
          </a:xfrm>
          <a:prstGeom prst="rect">
            <a:avLst/>
          </a:prstGeom>
          <a:solidFill>
            <a:schemeClr val="tx1">
              <a:alpha val="0"/>
            </a:schemeClr>
          </a:solidFill>
          <a:ln w="254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62A1ECF-7305-3748-993D-D6473F1C549D}"/>
              </a:ext>
            </a:extLst>
          </p:cNvPr>
          <p:cNvSpPr txBox="1"/>
          <p:nvPr/>
        </p:nvSpPr>
        <p:spPr>
          <a:xfrm>
            <a:off x="124417" y="66156"/>
            <a:ext cx="2938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Container&gt; stack architecture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11361A4-9D2C-BF42-ABEF-63FEACB06FD4}"/>
              </a:ext>
            </a:extLst>
          </p:cNvPr>
          <p:cNvCxnSpPr/>
          <p:nvPr/>
        </p:nvCxnSpPr>
        <p:spPr>
          <a:xfrm>
            <a:off x="0" y="435488"/>
            <a:ext cx="11137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58269BF-B733-C74F-941F-0FF38F8012E6}"/>
              </a:ext>
            </a:extLst>
          </p:cNvPr>
          <p:cNvSpPr/>
          <p:nvPr/>
        </p:nvSpPr>
        <p:spPr>
          <a:xfrm>
            <a:off x="268941" y="581894"/>
            <a:ext cx="11403106" cy="4007091"/>
          </a:xfrm>
          <a:prstGeom prst="rect">
            <a:avLst/>
          </a:prstGeom>
          <a:solidFill>
            <a:schemeClr val="tx1">
              <a:alpha val="0"/>
            </a:schemeClr>
          </a:solidFill>
          <a:ln w="254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B47A288-E56A-C242-BDD5-F93116F3C828}"/>
              </a:ext>
            </a:extLst>
          </p:cNvPr>
          <p:cNvSpPr/>
          <p:nvPr/>
        </p:nvSpPr>
        <p:spPr>
          <a:xfrm>
            <a:off x="772175" y="3033254"/>
            <a:ext cx="3240742" cy="53375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mysql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81719BF-81F4-FD4B-BFAD-EEC61BF7384F}"/>
              </a:ext>
            </a:extLst>
          </p:cNvPr>
          <p:cNvSpPr/>
          <p:nvPr/>
        </p:nvSpPr>
        <p:spPr>
          <a:xfrm>
            <a:off x="3050433" y="4088972"/>
            <a:ext cx="962484" cy="34029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7777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F72A786F-973A-2C44-873C-D9DDD056F0B2}"/>
              </a:ext>
            </a:extLst>
          </p:cNvPr>
          <p:cNvSpPr/>
          <p:nvPr/>
        </p:nvSpPr>
        <p:spPr>
          <a:xfrm>
            <a:off x="772175" y="3567011"/>
            <a:ext cx="3240742" cy="5337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mariadb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6EB480A-DF2C-5146-A468-055568BE99F8}"/>
              </a:ext>
            </a:extLst>
          </p:cNvPr>
          <p:cNvSpPr/>
          <p:nvPr/>
        </p:nvSpPr>
        <p:spPr>
          <a:xfrm>
            <a:off x="4322198" y="2979466"/>
            <a:ext cx="3240742" cy="53375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web1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C787FE6C-6ADB-734B-90E9-D8728273020F}"/>
              </a:ext>
            </a:extLst>
          </p:cNvPr>
          <p:cNvSpPr/>
          <p:nvPr/>
        </p:nvSpPr>
        <p:spPr>
          <a:xfrm>
            <a:off x="4322198" y="3513223"/>
            <a:ext cx="3240742" cy="5337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r>
              <a:rPr lang="x-none" dirty="0"/>
              <a:t>otnet core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B2E7C48B-4431-2744-8E1D-CCC5751E5CBC}"/>
              </a:ext>
            </a:extLst>
          </p:cNvPr>
          <p:cNvSpPr/>
          <p:nvPr/>
        </p:nvSpPr>
        <p:spPr>
          <a:xfrm>
            <a:off x="8006692" y="2970140"/>
            <a:ext cx="3240742" cy="53375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adminer1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62FB6153-4055-DE43-955F-14BBC603DCDB}"/>
              </a:ext>
            </a:extLst>
          </p:cNvPr>
          <p:cNvSpPr/>
          <p:nvPr/>
        </p:nvSpPr>
        <p:spPr>
          <a:xfrm>
            <a:off x="8006692" y="3503897"/>
            <a:ext cx="3240742" cy="5337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adminer</a:t>
            </a:r>
            <a:endParaRPr lang="x-none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5E7E39A4-3367-9943-97D6-ECCDE4CEBFC6}"/>
              </a:ext>
            </a:extLst>
          </p:cNvPr>
          <p:cNvSpPr/>
          <p:nvPr/>
        </p:nvSpPr>
        <p:spPr>
          <a:xfrm>
            <a:off x="3011858" y="4805477"/>
            <a:ext cx="988577" cy="34029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7777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14A58FF2-F103-BB43-9B7C-01B2A3023B65}"/>
              </a:ext>
            </a:extLst>
          </p:cNvPr>
          <p:cNvSpPr/>
          <p:nvPr/>
        </p:nvSpPr>
        <p:spPr>
          <a:xfrm>
            <a:off x="8006693" y="4042446"/>
            <a:ext cx="943344" cy="34029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8080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49489FCD-139C-4547-9BFF-B11C896BC89F}"/>
              </a:ext>
            </a:extLst>
          </p:cNvPr>
          <p:cNvSpPr/>
          <p:nvPr/>
        </p:nvSpPr>
        <p:spPr>
          <a:xfrm>
            <a:off x="8065701" y="4805477"/>
            <a:ext cx="890537" cy="34029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2001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44AC1C5C-2AEC-4549-8E0A-4FBC8AC0506A}"/>
              </a:ext>
            </a:extLst>
          </p:cNvPr>
          <p:cNvSpPr/>
          <p:nvPr/>
        </p:nvSpPr>
        <p:spPr>
          <a:xfrm>
            <a:off x="4322199" y="4055782"/>
            <a:ext cx="962484" cy="3402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5000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12010C8A-BA63-7947-A9B5-DDA94144491F}"/>
              </a:ext>
            </a:extLst>
          </p:cNvPr>
          <p:cNvSpPr/>
          <p:nvPr/>
        </p:nvSpPr>
        <p:spPr>
          <a:xfrm>
            <a:off x="4313828" y="4805477"/>
            <a:ext cx="988577" cy="3402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5000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C523438B-7623-4447-B26A-70C017146B5F}"/>
              </a:ext>
            </a:extLst>
          </p:cNvPr>
          <p:cNvSpPr/>
          <p:nvPr/>
        </p:nvSpPr>
        <p:spPr>
          <a:xfrm>
            <a:off x="6619594" y="4046980"/>
            <a:ext cx="943345" cy="340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5001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093140EA-CC8D-364C-B6F7-FB98589AA5E5}"/>
              </a:ext>
            </a:extLst>
          </p:cNvPr>
          <p:cNvSpPr/>
          <p:nvPr/>
        </p:nvSpPr>
        <p:spPr>
          <a:xfrm>
            <a:off x="6608169" y="4793779"/>
            <a:ext cx="988577" cy="340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5001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5A22AD5-E7B2-C54B-90C0-D72919995400}"/>
              </a:ext>
            </a:extLst>
          </p:cNvPr>
          <p:cNvSpPr txBox="1"/>
          <p:nvPr/>
        </p:nvSpPr>
        <p:spPr>
          <a:xfrm>
            <a:off x="11128942" y="560408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se2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1B1719A-A7C0-F74A-B552-336CA15D6C8F}"/>
              </a:ext>
            </a:extLst>
          </p:cNvPr>
          <p:cNvSpPr txBox="1"/>
          <p:nvPr/>
        </p:nvSpPr>
        <p:spPr>
          <a:xfrm>
            <a:off x="10039804" y="6313498"/>
            <a:ext cx="163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x-none" dirty="0"/>
              <a:t>ocal computer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DAA86661-4305-8749-BBDD-79F71DB92DD3}"/>
              </a:ext>
            </a:extLst>
          </p:cNvPr>
          <p:cNvSpPr/>
          <p:nvPr/>
        </p:nvSpPr>
        <p:spPr>
          <a:xfrm>
            <a:off x="677014" y="912235"/>
            <a:ext cx="3240742" cy="53375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ds</a:t>
            </a:r>
            <a:endParaRPr lang="x-none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924A1E41-B474-3E43-99BE-A806352C0138}"/>
              </a:ext>
            </a:extLst>
          </p:cNvPr>
          <p:cNvSpPr/>
          <p:nvPr/>
        </p:nvSpPr>
        <p:spPr>
          <a:xfrm>
            <a:off x="677276" y="1925634"/>
            <a:ext cx="3240742" cy="5337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ubuntu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07FCB903-1112-E04D-B296-6FD533664C0F}"/>
              </a:ext>
            </a:extLst>
          </p:cNvPr>
          <p:cNvSpPr/>
          <p:nvPr/>
        </p:nvSpPr>
        <p:spPr>
          <a:xfrm>
            <a:off x="3252738" y="2468031"/>
            <a:ext cx="665018" cy="34029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80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8B938897-7582-374F-91ED-588B4AE4A57D}"/>
              </a:ext>
            </a:extLst>
          </p:cNvPr>
          <p:cNvSpPr/>
          <p:nvPr/>
        </p:nvSpPr>
        <p:spPr>
          <a:xfrm>
            <a:off x="2938951" y="797282"/>
            <a:ext cx="1216382" cy="34029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mydrive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E6A95EBF-A706-7344-94AF-2DF461BA9A3A}"/>
              </a:ext>
            </a:extLst>
          </p:cNvPr>
          <p:cNvSpPr/>
          <p:nvPr/>
        </p:nvSpPr>
        <p:spPr>
          <a:xfrm>
            <a:off x="377347" y="6320065"/>
            <a:ext cx="1216382" cy="34029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mydrive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E5E78CE7-7F75-2E45-AFCB-CEA5F042C2A9}"/>
              </a:ext>
            </a:extLst>
          </p:cNvPr>
          <p:cNvSpPr/>
          <p:nvPr/>
        </p:nvSpPr>
        <p:spPr>
          <a:xfrm>
            <a:off x="677014" y="1424509"/>
            <a:ext cx="3240742" cy="53375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 + data science libs</a:t>
            </a:r>
            <a:endParaRPr lang="x-none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79F8E803-43A7-7244-89F7-82F706502BE9}"/>
              </a:ext>
            </a:extLst>
          </p:cNvPr>
          <p:cNvSpPr/>
          <p:nvPr/>
        </p:nvSpPr>
        <p:spPr>
          <a:xfrm>
            <a:off x="4352156" y="1371050"/>
            <a:ext cx="3240742" cy="53375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proxy</a:t>
            </a:r>
            <a:endParaRPr lang="x-none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88A2DF9C-52DE-DB4A-9FA7-A2F927674F85}"/>
              </a:ext>
            </a:extLst>
          </p:cNvPr>
          <p:cNvSpPr/>
          <p:nvPr/>
        </p:nvSpPr>
        <p:spPr>
          <a:xfrm>
            <a:off x="4352156" y="1913055"/>
            <a:ext cx="3240742" cy="5337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nginx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7E3B8F8D-014F-8B41-B882-E15B52B48F28}"/>
              </a:ext>
            </a:extLst>
          </p:cNvPr>
          <p:cNvSpPr/>
          <p:nvPr/>
        </p:nvSpPr>
        <p:spPr>
          <a:xfrm>
            <a:off x="7992837" y="1371050"/>
            <a:ext cx="3240742" cy="53375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pp</a:t>
            </a:r>
            <a:endParaRPr lang="x-none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118FD452-BA54-074E-B2E6-2EAA75668B9D}"/>
              </a:ext>
            </a:extLst>
          </p:cNvPr>
          <p:cNvSpPr/>
          <p:nvPr/>
        </p:nvSpPr>
        <p:spPr>
          <a:xfrm>
            <a:off x="7992837" y="1928623"/>
            <a:ext cx="3240742" cy="5337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portainer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AF60A4D8-1BBC-9147-A995-0CE844628AD9}"/>
              </a:ext>
            </a:extLst>
          </p:cNvPr>
          <p:cNvSpPr/>
          <p:nvPr/>
        </p:nvSpPr>
        <p:spPr>
          <a:xfrm>
            <a:off x="10399345" y="2438637"/>
            <a:ext cx="834233" cy="3402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9000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2D86DDAD-AD3D-FE4C-95A9-32DD14A4A8C9}"/>
              </a:ext>
            </a:extLst>
          </p:cNvPr>
          <p:cNvSpPr/>
          <p:nvPr/>
        </p:nvSpPr>
        <p:spPr>
          <a:xfrm>
            <a:off x="10360042" y="4806572"/>
            <a:ext cx="890537" cy="3402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1003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A7E6BF93-7D39-2A40-A969-C13E832B1044}"/>
              </a:ext>
            </a:extLst>
          </p:cNvPr>
          <p:cNvSpPr/>
          <p:nvPr/>
        </p:nvSpPr>
        <p:spPr>
          <a:xfrm>
            <a:off x="680121" y="2480416"/>
            <a:ext cx="1216382" cy="340295"/>
          </a:xfrm>
          <a:prstGeom prst="rect">
            <a:avLst/>
          </a:prstGeom>
          <a:solidFill>
            <a:srgbClr val="933F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8050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BB4B7BA0-8A88-914A-9221-72D056FE5CA2}"/>
              </a:ext>
            </a:extLst>
          </p:cNvPr>
          <p:cNvSpPr/>
          <p:nvPr/>
        </p:nvSpPr>
        <p:spPr>
          <a:xfrm>
            <a:off x="1611187" y="4810691"/>
            <a:ext cx="843167" cy="34029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80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C9BFFC21-C8AE-A049-AA8F-D1649F4302DF}"/>
              </a:ext>
            </a:extLst>
          </p:cNvPr>
          <p:cNvSpPr/>
          <p:nvPr/>
        </p:nvSpPr>
        <p:spPr>
          <a:xfrm>
            <a:off x="258654" y="4808698"/>
            <a:ext cx="983953" cy="340295"/>
          </a:xfrm>
          <a:prstGeom prst="rect">
            <a:avLst/>
          </a:prstGeom>
          <a:solidFill>
            <a:srgbClr val="933F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8050</a:t>
            </a:r>
          </a:p>
        </p:txBody>
      </p:sp>
    </p:spTree>
    <p:extLst>
      <p:ext uri="{BB962C8B-B14F-4D97-AF65-F5344CB8AC3E}">
        <p14:creationId xmlns:p14="http://schemas.microsoft.com/office/powerpoint/2010/main" val="287338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6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  <p:bldP spid="26" grpId="0" animBg="1"/>
      <p:bldP spid="27" grpId="0" animBg="1"/>
      <p:bldP spid="7" grpId="0"/>
      <p:bldP spid="29" grpId="0"/>
      <p:bldP spid="22" grpId="0" animBg="1"/>
      <p:bldP spid="23" grpId="0" animBg="1"/>
      <p:bldP spid="24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F7375D5677364EA4B98C3FADEFA793" ma:contentTypeVersion="8" ma:contentTypeDescription="Create a new document." ma:contentTypeScope="" ma:versionID="d0e0aed9b20700bdf22a5b4916e53911">
  <xsd:schema xmlns:xsd="http://www.w3.org/2001/XMLSchema" xmlns:xs="http://www.w3.org/2001/XMLSchema" xmlns:p="http://schemas.microsoft.com/office/2006/metadata/properties" xmlns:ns2="893b9ef5-c49d-4f0c-a50a-7329169d6d58" targetNamespace="http://schemas.microsoft.com/office/2006/metadata/properties" ma:root="true" ma:fieldsID="8c149de83562da9db975a809103f99ce" ns2:_="">
    <xsd:import namespace="893b9ef5-c49d-4f0c-a50a-7329169d6d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3b9ef5-c49d-4f0c-a50a-7329169d6d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5F17D4-3C36-4F6F-95DB-DC82C9A173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3b9ef5-c49d-4f0c-a50a-7329169d6d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54D5189-8E96-4F6A-955D-F143DF75429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DD9E483-0693-4382-B616-59861EA85F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741</Words>
  <Application>Microsoft Office PowerPoint</Application>
  <PresentationFormat>Custom</PresentationFormat>
  <Paragraphs>184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it</cp:lastModifiedBy>
  <cp:revision>28</cp:revision>
  <dcterms:created xsi:type="dcterms:W3CDTF">2021-07-23T07:15:57Z</dcterms:created>
  <dcterms:modified xsi:type="dcterms:W3CDTF">2021-08-14T12:05:40Z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0x01010040F7375D5677364EA4B98C3FADEFA793</vt:lpwstr>
  </property>
</Properties>
</file>