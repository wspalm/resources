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8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 snapToObjects="1">
      <p:cViewPr>
        <p:scale>
          <a:sx n="90" d="100"/>
          <a:sy n="90" d="100"/>
        </p:scale>
        <p:origin x="-37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47D3E5-35A8-0C47-8EFE-6D222181A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785B444-2EE8-9E4F-891D-EC672EC8B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25047E-3E85-134D-91F9-D1714FAA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2457C25-22ED-EB46-9296-4B3067C4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176176C-2310-344A-B30B-2F629812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628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CC920C-2680-B446-9268-21A8B955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8C1FDD-1D38-A645-BF5D-D9C31FEC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AA33F5-4ED7-8045-891A-EEB22AA1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C8ED10-CE79-9F4D-9CC0-82E211C6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9FCC83-2E93-A846-A060-3AD5B75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884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914047-75BB-CD4B-BFC3-442ABDA1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A07193B-B059-6644-B6D4-77150C99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F69B1F0-4046-454D-9907-3917FECA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97BAC9-A1F0-6049-889A-89D66073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9AC9B1F-B433-6E4F-8155-77EE7087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3439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24CDB2-E023-ED47-ADC1-BFA2F352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9158A0-FEC2-814C-A55C-4A5DDBBC2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D5C79E6-0C7A-6441-9163-A24499698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5140919-AFB0-8D42-A909-1C782AE8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0E75635-E24B-714E-AF4A-4F4275D0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138B53-29E9-CD47-B1BE-C3632356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812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CD84F6-808C-3446-8A4D-6E468A0B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EB259B1-2F99-8A46-9C95-EBFBF11C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3335B79-8BD1-D64B-97A2-261702AE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09924F2-52B4-1749-A96E-F3F7B2E67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0D87DA2-EAB3-2E46-AF71-367D91435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5028378-881E-FC47-8D03-4B268623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33A91A4-1173-6B4F-820B-A8219478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65C1E00-F954-6040-B7EB-0B7C40BE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016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0E8B29-95A7-9B4C-8101-61DC2053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C6B59DF-FB6D-4E43-9FF0-511C6EE7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F36AB21-E3F1-2B41-B0FE-2787196B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995FC7B-E4FA-FE45-A5A9-8EB200DF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6547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8ABE5B5-E268-AE4C-A2CF-7AC61EC6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BFCF49F-E9D4-4442-9703-492E3DEB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F194C-0C81-EA40-BF9E-5C682995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882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DF752A-9970-C241-A623-55CE106E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73CCF7-0A59-4A4C-9DC4-CF0609002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1C87B9A-17DA-5742-AD43-65DF86A38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1CF652E-B9A9-044A-9A26-7DE8BCEF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5721CEC-F916-CB4C-BD2A-20E81878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E94341B-93FC-0943-9B23-4EA6AA51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2927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2A538D-B350-3946-A4D3-EE281432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C804F43-829C-7241-A667-F89314211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4D5B2B5-1203-7347-81CA-2290D1A5F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957EAF7-F9FA-734B-8668-5A0698CB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EB06B0E-32C2-E241-9661-CDABC07B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9517C0-37D2-5841-BE82-BA144914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910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1A9CF7-64F7-AE40-A985-5E79C544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6095074-957C-2B44-9681-643F35640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A3C6E8-1B62-C341-9D29-E08F06A3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F6D532-11FD-AE4F-9944-201CD2F7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5A9264-ED7C-2343-8972-2E069DC4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247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F14AF5B-D568-2145-97B4-E7FE17CFD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A6D1427-9C20-F643-8F22-845E8D964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0FB267-815B-1742-A894-76876C94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31DB004-7335-0C48-8B6A-A65E2B6D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EF7C6B6-84F1-D44F-9A21-69852997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487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18FF1E7-914C-3449-9CA7-3F8FB440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337130-A49A-B247-B0B7-07866D3CE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5C12E58-D87F-E64E-8A76-5C31D0D80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0AEB-AAF8-D04B-87D4-5335576A6529}" type="datetimeFigureOut">
              <a:rPr lang="x-none" smtClean="0"/>
              <a:t>06/21/21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8CB1EF3-DCB4-7344-BEC9-F4C90927C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DC7342-AF1B-EA47-81CA-7FD32EB7E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3803A-61D9-704F-AF5F-280C995D94F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6705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910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setup openapi/swagger for interactive api test-bed and document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8ED2AA-6880-6549-A986-AFFC7839B4C9}"/>
              </a:ext>
            </a:extLst>
          </p:cNvPr>
          <p:cNvSpPr txBox="1"/>
          <p:nvPr/>
        </p:nvSpPr>
        <p:spPr>
          <a:xfrm>
            <a:off x="169334" y="720299"/>
            <a:ext cx="636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Step to add OPENAPI middleware into the existing web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019EC27-A535-A94F-97F6-A398376E2042}"/>
              </a:ext>
            </a:extLst>
          </p:cNvPr>
          <p:cNvSpPr txBox="1"/>
          <p:nvPr/>
        </p:nvSpPr>
        <p:spPr>
          <a:xfrm>
            <a:off x="1102549" y="2579477"/>
            <a:ext cx="86841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In</a:t>
            </a:r>
            <a:r>
              <a:rPr lang="x-none" b="1" dirty="0"/>
              <a:t> Startup.cs&gt; ConfigureServices()</a:t>
            </a:r>
            <a:endParaRPr lang="x-none" dirty="0"/>
          </a:p>
          <a:p>
            <a:r>
              <a:rPr lang="x-none" dirty="0"/>
              <a:t>Add the following code to register for open api</a:t>
            </a:r>
          </a:p>
          <a:p>
            <a:endParaRPr lang="x-none" dirty="0"/>
          </a:p>
          <a:p>
            <a:r>
              <a:rPr lang="en-US" dirty="0"/>
              <a:t> </a:t>
            </a:r>
            <a:r>
              <a:rPr lang="en-US" dirty="0" err="1"/>
              <a:t>services.</a:t>
            </a:r>
            <a:r>
              <a:rPr lang="en-US" b="1" dirty="0" err="1"/>
              <a:t>AddSwaggerGen</a:t>
            </a:r>
            <a:r>
              <a:rPr lang="en-US" dirty="0"/>
              <a:t>(c =&gt;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c.ResolveConflictingActions</a:t>
            </a:r>
            <a:r>
              <a:rPr lang="en-US" dirty="0"/>
              <a:t> (</a:t>
            </a:r>
            <a:r>
              <a:rPr lang="en-US" dirty="0" err="1"/>
              <a:t>apiDescriptions</a:t>
            </a:r>
            <a:r>
              <a:rPr lang="en-US" dirty="0"/>
              <a:t> =&gt; </a:t>
            </a:r>
            <a:r>
              <a:rPr lang="en-US" dirty="0" err="1"/>
              <a:t>apiDescriptions.First</a:t>
            </a:r>
            <a:r>
              <a:rPr lang="en-US" dirty="0"/>
              <a:t> ());</a:t>
            </a:r>
          </a:p>
          <a:p>
            <a:r>
              <a:rPr lang="en-US" dirty="0"/>
              <a:t>                </a:t>
            </a:r>
            <a:r>
              <a:rPr lang="en-US" dirty="0" err="1"/>
              <a:t>c.SwaggerDoc</a:t>
            </a:r>
            <a:r>
              <a:rPr lang="en-US" dirty="0"/>
              <a:t>("v1", new </a:t>
            </a:r>
            <a:r>
              <a:rPr lang="en-US" dirty="0" err="1"/>
              <a:t>OpenApiInfo</a:t>
            </a:r>
            <a:r>
              <a:rPr lang="en-US" dirty="0"/>
              <a:t> { Title = "p1 </a:t>
            </a:r>
            <a:r>
              <a:rPr lang="en-US" dirty="0" err="1"/>
              <a:t>api</a:t>
            </a:r>
            <a:r>
              <a:rPr lang="en-US" dirty="0"/>
              <a:t> version1", Version = "v1" });</a:t>
            </a:r>
          </a:p>
          <a:p>
            <a:r>
              <a:rPr lang="en-US" dirty="0"/>
              <a:t>            });	</a:t>
            </a:r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E0F9CEA-5FAF-7644-9202-EC503B12B358}"/>
              </a:ext>
            </a:extLst>
          </p:cNvPr>
          <p:cNvSpPr txBox="1"/>
          <p:nvPr/>
        </p:nvSpPr>
        <p:spPr>
          <a:xfrm>
            <a:off x="924166" y="5000728"/>
            <a:ext cx="90408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In</a:t>
            </a:r>
            <a:r>
              <a:rPr lang="x-none" b="1" dirty="0"/>
              <a:t> Startup.cs&gt; Configure()</a:t>
            </a:r>
            <a:endParaRPr lang="x-none" dirty="0"/>
          </a:p>
          <a:p>
            <a:r>
              <a:rPr lang="x-none" dirty="0"/>
              <a:t>Add the following code to register for open api</a:t>
            </a:r>
          </a:p>
          <a:p>
            <a:r>
              <a:rPr lang="en-US" dirty="0"/>
              <a:t>  </a:t>
            </a:r>
          </a:p>
          <a:p>
            <a:r>
              <a:rPr lang="en-US" dirty="0" err="1"/>
              <a:t>app.</a:t>
            </a:r>
            <a:r>
              <a:rPr lang="en-US" b="1" dirty="0" err="1"/>
              <a:t>UseSwagger</a:t>
            </a:r>
            <a:r>
              <a:rPr lang="en-US" dirty="0"/>
              <a:t>();</a:t>
            </a:r>
          </a:p>
          <a:p>
            <a:r>
              <a:rPr lang="en-US" dirty="0" err="1"/>
              <a:t>app.</a:t>
            </a:r>
            <a:r>
              <a:rPr lang="en-US" b="1" dirty="0" err="1"/>
              <a:t>UseSwaggerUI</a:t>
            </a:r>
            <a:r>
              <a:rPr lang="en-US" dirty="0"/>
              <a:t>(c =&gt; </a:t>
            </a:r>
            <a:r>
              <a:rPr lang="en-US" dirty="0" err="1"/>
              <a:t>c.SwaggerEndpoint</a:t>
            </a:r>
            <a:r>
              <a:rPr lang="en-US" dirty="0"/>
              <a:t>("/swagger/v1/</a:t>
            </a:r>
            <a:r>
              <a:rPr lang="en-US" dirty="0" err="1"/>
              <a:t>swagger.json</a:t>
            </a:r>
            <a:r>
              <a:rPr lang="en-US" dirty="0"/>
              <a:t>", "p1 </a:t>
            </a:r>
            <a:r>
              <a:rPr lang="en-US" dirty="0" err="1"/>
              <a:t>api</a:t>
            </a:r>
            <a:r>
              <a:rPr lang="en-US" dirty="0"/>
              <a:t> version1"));</a:t>
            </a:r>
          </a:p>
          <a:p>
            <a:r>
              <a:rPr lang="en-US" dirty="0"/>
              <a:t>	</a:t>
            </a:r>
            <a:endParaRPr lang="x-none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DC7833A-4D4E-B94E-8E8B-AA608AA8533B}"/>
              </a:ext>
            </a:extLst>
          </p:cNvPr>
          <p:cNvSpPr txBox="1"/>
          <p:nvPr/>
        </p:nvSpPr>
        <p:spPr>
          <a:xfrm>
            <a:off x="1102549" y="1203554"/>
            <a:ext cx="6116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x-none" b="1" dirty="0"/>
              <a:t>Add openapi lib to the project</a:t>
            </a:r>
          </a:p>
          <a:p>
            <a:r>
              <a:rPr lang="x-none" dirty="0"/>
              <a:t>In the terminal/command line, execute the following command</a:t>
            </a:r>
          </a:p>
          <a:p>
            <a:r>
              <a:rPr lang="en-US" b="1" i="1" dirty="0">
                <a:solidFill>
                  <a:schemeClr val="accent1"/>
                </a:solidFill>
              </a:rPr>
              <a:t>dotnet add package </a:t>
            </a:r>
            <a:r>
              <a:rPr lang="en-US" b="1" i="1" dirty="0" err="1">
                <a:solidFill>
                  <a:schemeClr val="accent1"/>
                </a:solidFill>
              </a:rPr>
              <a:t>Swashbuckle.AspNetCore</a:t>
            </a:r>
            <a:r>
              <a:rPr lang="en-US" b="1" i="1" dirty="0">
                <a:solidFill>
                  <a:schemeClr val="accent1"/>
                </a:solidFill>
              </a:rPr>
              <a:t> --version 5.6.3</a:t>
            </a:r>
            <a:endParaRPr lang="x-none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52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329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Engineering&gt; API Annotation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8ED2AA-6880-6549-A986-AFFC7839B4C9}"/>
              </a:ext>
            </a:extLst>
          </p:cNvPr>
          <p:cNvSpPr txBox="1"/>
          <p:nvPr/>
        </p:nvSpPr>
        <p:spPr>
          <a:xfrm>
            <a:off x="169334" y="720299"/>
            <a:ext cx="4352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Step to annotate OPENAPI tag in a controller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DC7833A-4D4E-B94E-8E8B-AA608AA8533B}"/>
              </a:ext>
            </a:extLst>
          </p:cNvPr>
          <p:cNvSpPr txBox="1"/>
          <p:nvPr/>
        </p:nvSpPr>
        <p:spPr>
          <a:xfrm>
            <a:off x="1102549" y="1203554"/>
            <a:ext cx="812536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In a controller file,  just above the class definition, add the following annotation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using </a:t>
            </a:r>
            <a:r>
              <a:rPr lang="en-US" dirty="0" err="1"/>
              <a:t>Microsoft.AspNetCore.Mvc</a:t>
            </a:r>
            <a:r>
              <a:rPr lang="en-US" dirty="0"/>
              <a:t>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namespace l2.Controllers{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[Route("</a:t>
            </a:r>
            <a:r>
              <a:rPr lang="en-US" b="1" dirty="0" err="1">
                <a:solidFill>
                  <a:srgbClr val="FF0000"/>
                </a:solidFill>
              </a:rPr>
              <a:t>api</a:t>
            </a:r>
            <a:r>
              <a:rPr lang="en-US" b="1" dirty="0">
                <a:solidFill>
                  <a:srgbClr val="FF0000"/>
                </a:solidFill>
              </a:rPr>
              <a:t>/[controller]/[action]")]</a:t>
            </a:r>
          </a:p>
          <a:p>
            <a:r>
              <a:rPr lang="en-US" dirty="0"/>
              <a:t>	public class Service1Controller: Controller{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		[</a:t>
            </a:r>
            <a:r>
              <a:rPr lang="en-US" b="1" dirty="0">
                <a:solidFill>
                  <a:srgbClr val="FF0000"/>
                </a:solidFill>
              </a:rPr>
              <a:t>HttpPost</a:t>
            </a:r>
            <a:r>
              <a:rPr lang="en-US" dirty="0"/>
              <a:t>]</a:t>
            </a:r>
          </a:p>
          <a:p>
            <a:r>
              <a:rPr lang="en-US" dirty="0"/>
              <a:t>		public int add(int x, int y){</a:t>
            </a:r>
          </a:p>
          <a:p>
            <a:r>
              <a:rPr lang="en-US" dirty="0"/>
              <a:t>			return </a:t>
            </a:r>
            <a:r>
              <a:rPr lang="en-US" dirty="0" err="1"/>
              <a:t>x+y</a:t>
            </a:r>
            <a:r>
              <a:rPr lang="en-US" dirty="0"/>
              <a:t>;</a:t>
            </a:r>
          </a:p>
          <a:p>
            <a:r>
              <a:rPr lang="en-US" dirty="0"/>
              <a:t>		}//</a:t>
            </a:r>
            <a:r>
              <a:rPr lang="en-US" dirty="0" err="1"/>
              <a:t>ef</a:t>
            </a:r>
            <a:endParaRPr lang="en-US" dirty="0"/>
          </a:p>
          <a:p>
            <a:r>
              <a:rPr lang="en-US" dirty="0"/>
              <a:t>	}//</a:t>
            </a:r>
            <a:r>
              <a:rPr lang="en-US" dirty="0" err="1"/>
              <a:t>ec</a:t>
            </a:r>
            <a:endParaRPr lang="en-US" dirty="0"/>
          </a:p>
          <a:p>
            <a:r>
              <a:rPr lang="en-US" dirty="0"/>
              <a:t>}//</a:t>
            </a:r>
            <a:r>
              <a:rPr lang="en-US" dirty="0" err="1"/>
              <a:t>en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428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310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API test-bed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FBAE3E4-BE79-824B-AFB2-33CCEF67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65" y="1295720"/>
            <a:ext cx="6167514" cy="5293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227DC18-1287-3B47-95ED-697242AB55B7}"/>
              </a:ext>
            </a:extLst>
          </p:cNvPr>
          <p:cNvSpPr txBox="1"/>
          <p:nvPr/>
        </p:nvSpPr>
        <p:spPr>
          <a:xfrm>
            <a:off x="681276" y="733199"/>
            <a:ext cx="3052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http://localhost:5000/swagger</a:t>
            </a:r>
          </a:p>
        </p:txBody>
      </p:sp>
    </p:spTree>
    <p:extLst>
      <p:ext uri="{BB962C8B-B14F-4D97-AF65-F5344CB8AC3E}">
        <p14:creationId xmlns:p14="http://schemas.microsoft.com/office/powerpoint/2010/main" val="64021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5349789-6FC1-0648-831B-999335A2085F}"/>
              </a:ext>
            </a:extLst>
          </p:cNvPr>
          <p:cNvSpPr/>
          <p:nvPr/>
        </p:nvSpPr>
        <p:spPr>
          <a:xfrm>
            <a:off x="169334" y="641610"/>
            <a:ext cx="11446933" cy="6210812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47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Controller data/ List of Objects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BA48A5B-2785-1C45-B77E-D1479ACFF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63" y="651371"/>
            <a:ext cx="5943600" cy="1689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D17C161-429D-E04A-9828-715E2C9CC592}"/>
              </a:ext>
            </a:extLst>
          </p:cNvPr>
          <p:cNvSpPr txBox="1"/>
          <p:nvPr/>
        </p:nvSpPr>
        <p:spPr>
          <a:xfrm>
            <a:off x="2133563" y="5750673"/>
            <a:ext cx="2897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>
                <a:solidFill>
                  <a:srgbClr val="FF0000"/>
                </a:solidFill>
              </a:rPr>
              <a:t>//your business logic go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34718F97-E5AA-8749-9CD0-56EC7445C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63" y="6051289"/>
            <a:ext cx="152400" cy="266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826BC079-A15B-9B43-A821-58276353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63" y="6420621"/>
            <a:ext cx="152400" cy="266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28D093CE-3F20-634E-AE1A-D388BA1CD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583" y="2697697"/>
            <a:ext cx="3352800" cy="29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E6CA6479-6758-774F-B68E-DE840B8C6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3706" y="3223617"/>
            <a:ext cx="1308100" cy="317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E980364A-FC6D-3F4E-89B5-28A370764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338" y="3261718"/>
            <a:ext cx="203200" cy="254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022EC325-680C-E444-A464-48FBF4DE34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039" y="3862801"/>
            <a:ext cx="304800" cy="355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A2AB0D4F-BE5D-C648-9A27-7FC9147B03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8938" y="3576866"/>
            <a:ext cx="10414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A5020BA6-736F-534C-9521-8A8DD7BF32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692" y="3564764"/>
            <a:ext cx="1943100" cy="304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5D39A79E-CAA8-2543-A2D8-F1727F3B13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166" y="3463164"/>
            <a:ext cx="1422400" cy="406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2466F06E-925E-B548-B315-35EDE435DA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7730" y="3494914"/>
            <a:ext cx="1689100" cy="342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582C66CA-D442-5B4F-970B-FFAEFFA792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3205" y="4358541"/>
            <a:ext cx="241300" cy="203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5C48FB27-F5E9-BF43-845E-2DE52E63A6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5172" y="4642589"/>
            <a:ext cx="6705600" cy="863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2FA83598-9A59-0B4B-8790-47CB0874E5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55422" y="5467555"/>
            <a:ext cx="419100" cy="330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0E47B7CD-F28C-4E4C-A447-9D40A95B75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7540" y="2985734"/>
            <a:ext cx="1193800" cy="279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C599951D-9F38-8048-A696-0D43BFA1C3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3200" y="3002544"/>
            <a:ext cx="1879600" cy="241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="" xmlns:a16="http://schemas.microsoft.com/office/drawing/2014/main" id="{2929C9C1-120D-9B4E-95AD-BA77F0ACDB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766" y="3047777"/>
            <a:ext cx="228600" cy="190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B0703461-90E6-F741-BAEE-429DA6B9EC1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5246" y="2962351"/>
            <a:ext cx="228600" cy="266700"/>
          </a:xfrm>
          <a:prstGeom prst="rect">
            <a:avLst/>
          </a:prstGeom>
        </p:spPr>
      </p:pic>
      <p:graphicFrame>
        <p:nvGraphicFramePr>
          <p:cNvPr id="28" name="Table 2">
            <a:extLst>
              <a:ext uri="{FF2B5EF4-FFF2-40B4-BE49-F238E27FC236}">
                <a16:creationId xmlns="" xmlns:a16="http://schemas.microsoft.com/office/drawing/2014/main" id="{01CDA734-BAAD-1C41-AE88-80256A42B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87037"/>
              </p:ext>
            </p:extLst>
          </p:nvPr>
        </p:nvGraphicFramePr>
        <p:xfrm>
          <a:off x="8432801" y="693962"/>
          <a:ext cx="3183466" cy="2353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55">
                  <a:extLst>
                    <a:ext uri="{9D8B030D-6E8A-4147-A177-3AD203B41FA5}">
                      <a16:colId xmlns="" xmlns:a16="http://schemas.microsoft.com/office/drawing/2014/main" val="2262653442"/>
                    </a:ext>
                  </a:extLst>
                </a:gridCol>
                <a:gridCol w="885965">
                  <a:extLst>
                    <a:ext uri="{9D8B030D-6E8A-4147-A177-3AD203B41FA5}">
                      <a16:colId xmlns="" xmlns:a16="http://schemas.microsoft.com/office/drawing/2014/main" val="3026355857"/>
                    </a:ext>
                  </a:extLst>
                </a:gridCol>
                <a:gridCol w="742117">
                  <a:extLst>
                    <a:ext uri="{9D8B030D-6E8A-4147-A177-3AD203B41FA5}">
                      <a16:colId xmlns="" xmlns:a16="http://schemas.microsoft.com/office/drawing/2014/main" val="683462432"/>
                    </a:ext>
                  </a:extLst>
                </a:gridCol>
                <a:gridCol w="1044829">
                  <a:extLst>
                    <a:ext uri="{9D8B030D-6E8A-4147-A177-3AD203B41FA5}">
                      <a16:colId xmlns="" xmlns:a16="http://schemas.microsoft.com/office/drawing/2014/main" val="2370326737"/>
                    </a:ext>
                  </a:extLst>
                </a:gridCol>
              </a:tblGrid>
              <a:tr h="7846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r>
                        <a:rPr lang="x-non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x-none" dirty="0"/>
                        <a:t>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x-none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892363"/>
                  </a:ext>
                </a:extLst>
              </a:tr>
              <a:tr h="784605"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x-none" dirty="0"/>
                        <a:t>ndy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20855369"/>
                  </a:ext>
                </a:extLst>
              </a:tr>
              <a:tr h="784605"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r>
                        <a:rPr lang="x-none" dirty="0"/>
                        <a:t>athy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8888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27586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190EBEA-2ABC-E84D-BE36-71CAA20BCCA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71966" y="2275287"/>
            <a:ext cx="2895600" cy="3048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92D08D14-BD85-C54B-AEB9-24E14E9FA0F3}"/>
              </a:ext>
            </a:extLst>
          </p:cNvPr>
          <p:cNvSpPr/>
          <p:nvPr/>
        </p:nvSpPr>
        <p:spPr>
          <a:xfrm>
            <a:off x="8432801" y="1507068"/>
            <a:ext cx="3183465" cy="410400"/>
          </a:xfrm>
          <a:prstGeom prst="rect">
            <a:avLst/>
          </a:prstGeom>
          <a:solidFill>
            <a:schemeClr val="accent4">
              <a:lumMod val="75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9B6DF0DB-08FD-F14F-8A98-28B73A47A253}"/>
              </a:ext>
            </a:extLst>
          </p:cNvPr>
          <p:cNvSpPr/>
          <p:nvPr/>
        </p:nvSpPr>
        <p:spPr>
          <a:xfrm>
            <a:off x="8432801" y="2237134"/>
            <a:ext cx="3183465" cy="410400"/>
          </a:xfrm>
          <a:prstGeom prst="rect">
            <a:avLst/>
          </a:prstGeom>
          <a:solidFill>
            <a:schemeClr val="accent4">
              <a:lumMod val="75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4498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5349789-6FC1-0648-831B-999335A2085F}"/>
              </a:ext>
            </a:extLst>
          </p:cNvPr>
          <p:cNvSpPr/>
          <p:nvPr/>
        </p:nvSpPr>
        <p:spPr>
          <a:xfrm>
            <a:off x="169334" y="641610"/>
            <a:ext cx="11446933" cy="6210812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440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Use LinQ for data selection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9674269-EB77-2F49-A776-DBB0E24D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48" y="4433060"/>
            <a:ext cx="4546600" cy="114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BEA23D0-84C7-674B-8B5C-0921A37E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1" y="6488352"/>
            <a:ext cx="4191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459B9BC-B1B2-C340-B5D1-FA3EF54A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081" y="5450927"/>
            <a:ext cx="939800" cy="215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8E7BA1DA-3A48-BF42-975C-7FE0790D0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881" y="5404360"/>
            <a:ext cx="863600" cy="30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E7FAACFC-995E-D544-9788-6D8DFC82A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9230" y="5406477"/>
            <a:ext cx="317500" cy="30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1A7CE95F-B793-7940-BBBF-84F2573D8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1989" y="5400127"/>
            <a:ext cx="3048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752B06A9-E49D-CB40-9200-A59054BF7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485" y="5425527"/>
            <a:ext cx="342900" cy="190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92D72D68-910A-A745-B8C2-1AA544B54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1385" y="5419177"/>
            <a:ext cx="444500" cy="29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E1F3561-84C9-1B48-BB57-2F5FB9FDA1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5885" y="5400127"/>
            <a:ext cx="203200" cy="292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D029C93D-51A1-6743-963E-88E9DB5E4D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9530" y="5391661"/>
            <a:ext cx="139700" cy="304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0B0151EC-CB06-B14A-ACB2-B72FC3DC1C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926" y="5438227"/>
            <a:ext cx="533400" cy="215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0D9FE2FA-7A7F-D349-95C6-CD6C6C957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8330" y="5429761"/>
            <a:ext cx="711200" cy="203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CDD543CF-249B-7949-902A-CBA40B1A94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4174" y="5448811"/>
            <a:ext cx="203200" cy="266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09B5AF79-3961-D441-87F7-FA7FC18E48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7762" y="5400127"/>
            <a:ext cx="1485900" cy="876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5817AFB4-E31A-C943-A14F-9ED6AD76DA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7580" y="757045"/>
            <a:ext cx="7023100" cy="3695700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601CEAA0-F848-CA40-895D-80DB2BE75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92253"/>
              </p:ext>
            </p:extLst>
          </p:nvPr>
        </p:nvGraphicFramePr>
        <p:xfrm>
          <a:off x="8432801" y="693961"/>
          <a:ext cx="3183466" cy="3053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55">
                  <a:extLst>
                    <a:ext uri="{9D8B030D-6E8A-4147-A177-3AD203B41FA5}">
                      <a16:colId xmlns="" xmlns:a16="http://schemas.microsoft.com/office/drawing/2014/main" val="2262653442"/>
                    </a:ext>
                  </a:extLst>
                </a:gridCol>
                <a:gridCol w="885965">
                  <a:extLst>
                    <a:ext uri="{9D8B030D-6E8A-4147-A177-3AD203B41FA5}">
                      <a16:colId xmlns="" xmlns:a16="http://schemas.microsoft.com/office/drawing/2014/main" val="3026355857"/>
                    </a:ext>
                  </a:extLst>
                </a:gridCol>
                <a:gridCol w="742117">
                  <a:extLst>
                    <a:ext uri="{9D8B030D-6E8A-4147-A177-3AD203B41FA5}">
                      <a16:colId xmlns="" xmlns:a16="http://schemas.microsoft.com/office/drawing/2014/main" val="683462432"/>
                    </a:ext>
                  </a:extLst>
                </a:gridCol>
                <a:gridCol w="1044829">
                  <a:extLst>
                    <a:ext uri="{9D8B030D-6E8A-4147-A177-3AD203B41FA5}">
                      <a16:colId xmlns="" xmlns:a16="http://schemas.microsoft.com/office/drawing/2014/main" val="2370326737"/>
                    </a:ext>
                  </a:extLst>
                </a:gridCol>
              </a:tblGrid>
              <a:tr h="10176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r>
                        <a:rPr lang="x-non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x-none" dirty="0"/>
                        <a:t>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r>
                        <a:rPr lang="x-none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3892363"/>
                  </a:ext>
                </a:extLst>
              </a:tr>
              <a:tr h="1017685"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x-none" dirty="0"/>
                        <a:t>ndy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20855369"/>
                  </a:ext>
                </a:extLst>
              </a:tr>
              <a:tr h="1017685"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r>
                        <a:rPr lang="x-none" dirty="0"/>
                        <a:t>athy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8888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275865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6E04066-4654-EB45-AD45-59C3F0ABE797}"/>
              </a:ext>
            </a:extLst>
          </p:cNvPr>
          <p:cNvSpPr/>
          <p:nvPr/>
        </p:nvSpPr>
        <p:spPr>
          <a:xfrm>
            <a:off x="8432802" y="693961"/>
            <a:ext cx="1388532" cy="3053054"/>
          </a:xfrm>
          <a:prstGeom prst="rect">
            <a:avLst/>
          </a:prstGeom>
          <a:solidFill>
            <a:schemeClr val="accent4">
              <a:lumMod val="75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35BC7F5-437B-0F45-ABD8-3810B62F1B38}"/>
              </a:ext>
            </a:extLst>
          </p:cNvPr>
          <p:cNvSpPr txBox="1"/>
          <p:nvPr/>
        </p:nvSpPr>
        <p:spPr>
          <a:xfrm>
            <a:off x="9127068" y="5004560"/>
            <a:ext cx="2321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{"id": </a:t>
            </a: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</a:t>
            </a:r>
            <a:r>
              <a:rPr lang="x-none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"name ":  "andy o "}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369D78C-4A14-6345-8783-D9213F8BF8B2}"/>
              </a:ext>
            </a:extLst>
          </p:cNvPr>
          <p:cNvSpPr txBox="1"/>
          <p:nvPr/>
        </p:nvSpPr>
        <p:spPr>
          <a:xfrm>
            <a:off x="9127068" y="5428404"/>
            <a:ext cx="2321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{ "id": </a:t>
            </a:r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x-none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"name": "kathy s"}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E039A763-50B9-A64F-BFBB-092162C0F509}"/>
              </a:ext>
            </a:extLst>
          </p:cNvPr>
          <p:cNvSpPr txBox="1"/>
          <p:nvPr/>
        </p:nvSpPr>
        <p:spPr>
          <a:xfrm>
            <a:off x="8964230" y="4696783"/>
            <a:ext cx="455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[</a:t>
            </a:r>
            <a:endParaRPr lang="x-none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34FA62E6-88F1-8746-86E1-209C22060AE9}"/>
              </a:ext>
            </a:extLst>
          </p:cNvPr>
          <p:cNvSpPr txBox="1"/>
          <p:nvPr/>
        </p:nvSpPr>
        <p:spPr>
          <a:xfrm>
            <a:off x="8976407" y="5782532"/>
            <a:ext cx="355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]</a:t>
            </a:r>
            <a:endParaRPr lang="x-none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968D7D4E-CCE5-5240-A34E-DF7D22D85825}"/>
              </a:ext>
            </a:extLst>
          </p:cNvPr>
          <p:cNvSpPr txBox="1"/>
          <p:nvPr/>
        </p:nvSpPr>
        <p:spPr>
          <a:xfrm>
            <a:off x="9200412" y="5211405"/>
            <a:ext cx="455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</a:t>
            </a:r>
            <a:endParaRPr lang="x-none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7" grpId="0"/>
      <p:bldP spid="28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5349789-6FC1-0648-831B-999335A2085F}"/>
              </a:ext>
            </a:extLst>
          </p:cNvPr>
          <p:cNvSpPr/>
          <p:nvPr/>
        </p:nvSpPr>
        <p:spPr>
          <a:xfrm>
            <a:off x="169334" y="641610"/>
            <a:ext cx="11446933" cy="6210812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1AEFFF8-CEF5-884E-953E-1987D118F3A4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B1ACF4-76E9-F244-BDA4-343BB7D555A1}"/>
              </a:ext>
            </a:extLst>
          </p:cNvPr>
          <p:cNvSpPr txBox="1"/>
          <p:nvPr/>
        </p:nvSpPr>
        <p:spPr>
          <a:xfrm>
            <a:off x="169334" y="170679"/>
            <a:ext cx="619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Object/Row Selection and Data return pattern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717E9F7-62BE-644C-BEA1-544825F4A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21834"/>
            <a:ext cx="7061200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3BF26D3-CE78-5F41-857D-607B0269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6458354"/>
            <a:ext cx="8763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1F1AD98-7CBD-FA42-A6DF-93AD64777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363" y="2608250"/>
            <a:ext cx="2133600" cy="43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EB3BD879-33B8-DB42-8F5E-C38C47C11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033" y="4717274"/>
            <a:ext cx="7366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DF957CA-2BD7-BB46-90AB-F660DB69C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450" y="3259151"/>
            <a:ext cx="5245100" cy="111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7A660344-483D-6341-8292-E7B07C0A8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0363" y="3177114"/>
            <a:ext cx="1524000" cy="1435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66838C19-2783-1340-A654-8AE956D46D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0033" y="5034618"/>
            <a:ext cx="2489200" cy="279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9FA20D3-70ED-654E-8AFA-D4A048971B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763" y="5351446"/>
            <a:ext cx="8585200" cy="1117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3B4866DE-6565-5B4D-9A96-85A782088A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2150" y="2320900"/>
            <a:ext cx="7861300" cy="3556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E88DC48-4FE8-4347-A421-F2CA43714655}"/>
              </a:ext>
            </a:extLst>
          </p:cNvPr>
          <p:cNvSpPr/>
          <p:nvPr/>
        </p:nvSpPr>
        <p:spPr>
          <a:xfrm>
            <a:off x="4449233" y="2320900"/>
            <a:ext cx="1545167" cy="287350"/>
          </a:xfrm>
          <a:prstGeom prst="rect">
            <a:avLst/>
          </a:prstGeom>
          <a:solidFill>
            <a:schemeClr val="accent1">
              <a:alpha val="4255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F66A713-CCFC-9548-BCA1-8FC185BBC184}"/>
              </a:ext>
            </a:extLst>
          </p:cNvPr>
          <p:cNvSpPr/>
          <p:nvPr/>
        </p:nvSpPr>
        <p:spPr>
          <a:xfrm>
            <a:off x="6180670" y="2337991"/>
            <a:ext cx="507998" cy="270259"/>
          </a:xfrm>
          <a:prstGeom prst="rect">
            <a:avLst/>
          </a:prstGeom>
          <a:solidFill>
            <a:schemeClr val="accent1">
              <a:alpha val="4255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4DDE2DC-109F-5140-930C-2AB890638FE4}"/>
              </a:ext>
            </a:extLst>
          </p:cNvPr>
          <p:cNvSpPr/>
          <p:nvPr/>
        </p:nvSpPr>
        <p:spPr>
          <a:xfrm>
            <a:off x="6756404" y="2337991"/>
            <a:ext cx="2760130" cy="270259"/>
          </a:xfrm>
          <a:prstGeom prst="rect">
            <a:avLst/>
          </a:prstGeom>
          <a:solidFill>
            <a:schemeClr val="accent1">
              <a:alpha val="4255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013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08F5F8F-671C-5843-8499-F4CC0D552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86" y="1465886"/>
            <a:ext cx="11453417" cy="37825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C545152-0367-0449-AE90-C6A941418B03}"/>
              </a:ext>
            </a:extLst>
          </p:cNvPr>
          <p:cNvSpPr/>
          <p:nvPr/>
        </p:nvSpPr>
        <p:spPr>
          <a:xfrm>
            <a:off x="3920646" y="3429000"/>
            <a:ext cx="7102258" cy="416490"/>
          </a:xfrm>
          <a:prstGeom prst="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11E7F0B-6971-F245-BD25-69CD437618DA}"/>
              </a:ext>
            </a:extLst>
          </p:cNvPr>
          <p:cNvSpPr/>
          <p:nvPr/>
        </p:nvSpPr>
        <p:spPr>
          <a:xfrm>
            <a:off x="386097" y="4445000"/>
            <a:ext cx="1899903" cy="313267"/>
          </a:xfrm>
          <a:prstGeom prst="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D7D83954-2F1D-444E-BB99-07A30FBFF1BF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06C26BD-CAB2-C14E-B745-68292D36D794}"/>
              </a:ext>
            </a:extLst>
          </p:cNvPr>
          <p:cNvSpPr txBox="1"/>
          <p:nvPr/>
        </p:nvSpPr>
        <p:spPr>
          <a:xfrm>
            <a:off x="169334" y="170679"/>
            <a:ext cx="791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Nested Properties and JSON  to Data Class automatic Conversion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45C550-BBCA-D84B-9F8C-01CEAEED36D8}"/>
              </a:ext>
            </a:extLst>
          </p:cNvPr>
          <p:cNvSpPr txBox="1"/>
          <p:nvPr/>
        </p:nvSpPr>
        <p:spPr>
          <a:xfrm>
            <a:off x="386097" y="872134"/>
            <a:ext cx="5230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dirty="0"/>
              <a:t>1. Add Lib dependency in the project file</a:t>
            </a:r>
          </a:p>
        </p:txBody>
      </p:sp>
    </p:spTree>
    <p:extLst>
      <p:ext uri="{BB962C8B-B14F-4D97-AF65-F5344CB8AC3E}">
        <p14:creationId xmlns:p14="http://schemas.microsoft.com/office/powerpoint/2010/main" val="1064634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68001BB-137C-1E45-A577-F97BD2BAA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0" y="2048866"/>
            <a:ext cx="7200900" cy="3937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11E7F0B-6971-F245-BD25-69CD437618DA}"/>
              </a:ext>
            </a:extLst>
          </p:cNvPr>
          <p:cNvSpPr/>
          <p:nvPr/>
        </p:nvSpPr>
        <p:spPr>
          <a:xfrm>
            <a:off x="3389685" y="4643899"/>
            <a:ext cx="6167103" cy="1159933"/>
          </a:xfrm>
          <a:prstGeom prst="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AC3FDEDB-8873-F944-826A-529EC96BE1C8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D8D776B-9884-AD45-96DC-53170A6C88F1}"/>
              </a:ext>
            </a:extLst>
          </p:cNvPr>
          <p:cNvSpPr txBox="1"/>
          <p:nvPr/>
        </p:nvSpPr>
        <p:spPr>
          <a:xfrm>
            <a:off x="169334" y="170679"/>
            <a:ext cx="791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Nested Properties and JSON  to Data Class automatic Conversion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C738A7D-552A-3F4F-9367-8ADC9D43CF07}"/>
              </a:ext>
            </a:extLst>
          </p:cNvPr>
          <p:cNvSpPr txBox="1"/>
          <p:nvPr/>
        </p:nvSpPr>
        <p:spPr>
          <a:xfrm>
            <a:off x="386097" y="872134"/>
            <a:ext cx="5014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dirty="0"/>
              <a:t>2. Add newton service in startup.cs file</a:t>
            </a:r>
          </a:p>
        </p:txBody>
      </p:sp>
    </p:spTree>
    <p:extLst>
      <p:ext uri="{BB962C8B-B14F-4D97-AF65-F5344CB8AC3E}">
        <p14:creationId xmlns:p14="http://schemas.microsoft.com/office/powerpoint/2010/main" val="243240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4624DBB-6597-E849-A649-036397AFD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182" y="3793684"/>
            <a:ext cx="5981700" cy="2984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1023122-7F1A-2C46-9D44-1B24426D9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182" y="1469584"/>
            <a:ext cx="5041900" cy="200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7A42FA4-F7B6-4F46-929F-1DF469A43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4" y="3793684"/>
            <a:ext cx="4373442" cy="2984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633DCE8-938B-0B48-8168-E6B01594E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34" y="1130975"/>
            <a:ext cx="5232400" cy="254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4E9CACA1-D234-6641-B034-8469814C0DBB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84CEB94-0629-114F-82EE-768C24D41CF2}"/>
              </a:ext>
            </a:extLst>
          </p:cNvPr>
          <p:cNvSpPr txBox="1"/>
          <p:nvPr/>
        </p:nvSpPr>
        <p:spPr>
          <a:xfrm>
            <a:off x="169334" y="170679"/>
            <a:ext cx="791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Nested Properties and JSON  to Data Class automatic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911092B-0E84-2D4F-9AB7-057349E9B8DA}"/>
              </a:ext>
            </a:extLst>
          </p:cNvPr>
          <p:cNvSpPr txBox="1"/>
          <p:nvPr/>
        </p:nvSpPr>
        <p:spPr>
          <a:xfrm>
            <a:off x="170943" y="678510"/>
            <a:ext cx="4647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dirty="0"/>
              <a:t>3. Data Modeling (ref: WhiteBoard) </a:t>
            </a:r>
          </a:p>
        </p:txBody>
      </p:sp>
    </p:spTree>
    <p:extLst>
      <p:ext uri="{BB962C8B-B14F-4D97-AF65-F5344CB8AC3E}">
        <p14:creationId xmlns:p14="http://schemas.microsoft.com/office/powerpoint/2010/main" val="403167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4108B7F4-1E50-214C-A9D5-7803C36B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4" y="1377689"/>
            <a:ext cx="6223000" cy="49403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711ACE9C-640E-F341-AF2A-477DC2420FE0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0BCC95D-41C3-AC47-A40A-5F264B9355AD}"/>
              </a:ext>
            </a:extLst>
          </p:cNvPr>
          <p:cNvSpPr txBox="1"/>
          <p:nvPr/>
        </p:nvSpPr>
        <p:spPr>
          <a:xfrm>
            <a:off x="169334" y="170679"/>
            <a:ext cx="791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Nested Properties and JSON  to Data Class automatic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CF3FBD6-1491-F04D-B2DB-CA4E1E2A5E58}"/>
              </a:ext>
            </a:extLst>
          </p:cNvPr>
          <p:cNvSpPr txBox="1"/>
          <p:nvPr/>
        </p:nvSpPr>
        <p:spPr>
          <a:xfrm>
            <a:off x="449168" y="728017"/>
            <a:ext cx="3238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dirty="0"/>
              <a:t>4. Get Total  Order Items</a:t>
            </a:r>
          </a:p>
        </p:txBody>
      </p:sp>
    </p:spTree>
    <p:extLst>
      <p:ext uri="{BB962C8B-B14F-4D97-AF65-F5344CB8AC3E}">
        <p14:creationId xmlns:p14="http://schemas.microsoft.com/office/powerpoint/2010/main" val="44320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AE4B400-03A6-6547-B023-62A223CC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490" y="728017"/>
            <a:ext cx="6881509" cy="594759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8F621FC5-F497-7649-AC6A-1D8E8537B3DA}"/>
              </a:ext>
            </a:extLst>
          </p:cNvPr>
          <p:cNvCxnSpPr>
            <a:cxnSpLocks/>
          </p:cNvCxnSpPr>
          <p:nvPr/>
        </p:nvCxnSpPr>
        <p:spPr>
          <a:xfrm>
            <a:off x="0" y="540011"/>
            <a:ext cx="11616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0C53269-9A00-BA47-A39B-63E8394A5C82}"/>
              </a:ext>
            </a:extLst>
          </p:cNvPr>
          <p:cNvSpPr txBox="1"/>
          <p:nvPr/>
        </p:nvSpPr>
        <p:spPr>
          <a:xfrm>
            <a:off x="169334" y="170679"/>
            <a:ext cx="791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API Engineering &gt; Nested Properties and JSON  to Data Class automatic Conversion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6AF825D-0788-BF4A-974D-5B5FC8F9E8FF}"/>
              </a:ext>
            </a:extLst>
          </p:cNvPr>
          <p:cNvSpPr txBox="1"/>
          <p:nvPr/>
        </p:nvSpPr>
        <p:spPr>
          <a:xfrm>
            <a:off x="449168" y="728017"/>
            <a:ext cx="1786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dirty="0"/>
              <a:t>5. Add 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A239A94-04D1-2844-BDCA-07849F6134EF}"/>
              </a:ext>
            </a:extLst>
          </p:cNvPr>
          <p:cNvSpPr/>
          <p:nvPr/>
        </p:nvSpPr>
        <p:spPr>
          <a:xfrm>
            <a:off x="7247467" y="1189682"/>
            <a:ext cx="1049866" cy="435918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A48C882-6040-5248-B003-5C75B89527A7}"/>
              </a:ext>
            </a:extLst>
          </p:cNvPr>
          <p:cNvSpPr/>
          <p:nvPr/>
        </p:nvSpPr>
        <p:spPr>
          <a:xfrm>
            <a:off x="8398932" y="1189682"/>
            <a:ext cx="1253067" cy="435918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B3F922E-61F4-5A40-8855-A8A52A2E5057}"/>
              </a:ext>
            </a:extLst>
          </p:cNvPr>
          <p:cNvSpPr/>
          <p:nvPr/>
        </p:nvSpPr>
        <p:spPr>
          <a:xfrm>
            <a:off x="4351865" y="2612082"/>
            <a:ext cx="4182535" cy="816918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9D214B12-0120-1544-9D65-3E3AF359D6BB}"/>
              </a:ext>
            </a:extLst>
          </p:cNvPr>
          <p:cNvSpPr/>
          <p:nvPr/>
        </p:nvSpPr>
        <p:spPr>
          <a:xfrm>
            <a:off x="4216397" y="3678881"/>
            <a:ext cx="4978403" cy="1113251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36DDF6F-A6A6-AD40-A972-A046AD2611CD}"/>
              </a:ext>
            </a:extLst>
          </p:cNvPr>
          <p:cNvSpPr/>
          <p:nvPr/>
        </p:nvSpPr>
        <p:spPr>
          <a:xfrm>
            <a:off x="4233331" y="4999799"/>
            <a:ext cx="4165602" cy="296333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76B72A03-B482-B947-8489-40F4B43B072E}"/>
              </a:ext>
            </a:extLst>
          </p:cNvPr>
          <p:cNvSpPr/>
          <p:nvPr/>
        </p:nvSpPr>
        <p:spPr>
          <a:xfrm>
            <a:off x="4216397" y="5520151"/>
            <a:ext cx="4165602" cy="296333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5A4AC074-3919-C149-9607-428B90E2AC76}"/>
              </a:ext>
            </a:extLst>
          </p:cNvPr>
          <p:cNvSpPr/>
          <p:nvPr/>
        </p:nvSpPr>
        <p:spPr>
          <a:xfrm>
            <a:off x="4351865" y="2129713"/>
            <a:ext cx="4978402" cy="223906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958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F7375D5677364EA4B98C3FADEFA793" ma:contentTypeVersion="4" ma:contentTypeDescription="Create a new document." ma:contentTypeScope="" ma:versionID="d6aa91109c47101c74e4577288ad3809">
  <xsd:schema xmlns:xsd="http://www.w3.org/2001/XMLSchema" xmlns:xs="http://www.w3.org/2001/XMLSchema" xmlns:p="http://schemas.microsoft.com/office/2006/metadata/properties" xmlns:ns2="893b9ef5-c49d-4f0c-a50a-7329169d6d58" targetNamespace="http://schemas.microsoft.com/office/2006/metadata/properties" ma:root="true" ma:fieldsID="58fd76d55445f296d5fababe66246e3a" ns2:_="">
    <xsd:import namespace="893b9ef5-c49d-4f0c-a50a-7329169d6d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b9ef5-c49d-4f0c-a50a-7329169d6d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EE92D-CF4E-4207-98D0-AC78A407E5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55E8B88-C90A-49E6-88EC-EA091D93A6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3b9ef5-c49d-4f0c-a50a-7329169d6d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E045B0-96F6-4C55-9017-A2AAEC9B44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358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it</cp:lastModifiedBy>
  <cp:revision>15</cp:revision>
  <dcterms:created xsi:type="dcterms:W3CDTF">2021-06-09T00:51:31Z</dcterms:created>
  <dcterms:modified xsi:type="dcterms:W3CDTF">2021-06-21T05:38:18Z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0x01010040F7375D5677364EA4B98C3FADEFA793</vt:lpwstr>
  </property>
</Properties>
</file>